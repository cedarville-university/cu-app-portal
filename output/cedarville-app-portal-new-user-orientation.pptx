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243"/>
    <p:restoredTop sz="84231"/>
  </p:normalViewPr>
  <p:slideViewPr>
    <p:cSldViewPr snapToGrid="0">
      <p:cViewPr varScale="1">
        <p:scale>
          <a:sx n="120" d="100"/>
          <a:sy n="120" d="100"/>
        </p:scale>
        <p:origin x="208" y="1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participants. This session is designed for people new to the portal. By the end, they should be able to select a starting point, understand what happens after creation, and know where Codex fits.</a:t>
            </a:r>
          </a:p>
          <a:p>
            <a:endParaRPr/>
          </a:p>
          <a:p>
            <a:r>
              <a:t>[Sources]</a:t>
            </a:r>
          </a:p>
          <a:p>
            <a:r>
              <a:t>Internal source: Cedarville App Portal User Guide and Quick Start (reviewed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Emphasize that the portal is not a generic app generator. It gives users a dependable, Cedarville-managed starting point so they can focus on the department need.</a:t>
            </a:r>
          </a:p>
          <a:p>
            <a:endParaRPr/>
          </a:p>
          <a:p>
            <a:r>
              <a:t>[Sources]</a:t>
            </a:r>
          </a:p>
          <a:p>
            <a:r>
              <a:t>Internal source: Cedarville App Portal User Guide and Quick Start (reviewed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Codex plainly: it is a collaborative coding agent. New users do not need to be programmers, but should be ready to explain their process, review outputs, and test the app’s key task. Avoid presenting Codex as an automatic approval or publishing authority.</a:t>
            </a:r>
          </a:p>
          <a:p>
            <a:endParaRPr/>
          </a:p>
          <a:p>
            <a:r>
              <a:t>[Sources]</a:t>
            </a:r>
          </a:p>
          <a:p>
            <a:r>
              <a:t>Internal source: Cedarville App Portal User Guide. Product framing for Codex is presenter guidance.</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slowly through the lifecycle. The key idea is that the portal brings together the work that otherwise gets scattered: starting code, a source of truth, publishing setup, and day-to-day management.</a:t>
            </a:r>
          </a:p>
          <a:p>
            <a:endParaRPr/>
          </a:p>
          <a:p>
            <a:r>
              <a:t>[Sources]</a:t>
            </a:r>
          </a:p>
          <a:p>
            <a:r>
              <a:t>Internal source: Cedarville App Portal User Guide and Quick Start (reviewed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screenshot as a live orientation. Point out the Recommended Templates first, then the Developer Starters. Avoid reading every card; help people see that each option explains the kind of work it is best for.</a:t>
            </a:r>
          </a:p>
          <a:p>
            <a:endParaRPr/>
          </a:p>
          <a:p>
            <a:r>
              <a:t>[Sources]</a:t>
            </a:r>
          </a:p>
          <a:p>
            <a:r>
              <a:t>Internal source: local Cedarville App Portal Create New App screen captured 2026-08-06 in test-auth mode; Cedarville App Portal User Guide.</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Encourage users to describe the business problem first. A form and approval path, a team tracker, or an information page are usually easier starting points than picking a runtime. When in doubt, choose the template whose examples are closest to the project.</a:t>
            </a:r>
          </a:p>
          <a:p>
            <a:endParaRPr/>
          </a:p>
          <a:p>
            <a:r>
              <a:t>[Sources]</a:t>
            </a:r>
          </a:p>
          <a:p>
            <a:r>
              <a:t>Internal source: Cedarville App Portal User Guide and Quick Start (reviewed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meaningful choices. A database and login can add capability, but they also add infrastructure and configuration. Tie the decision to the app’s actual behavior and audience.</a:t>
            </a:r>
          </a:p>
          <a:p>
            <a:endParaRPr/>
          </a:p>
          <a:p>
            <a:r>
              <a:t>[Sources]</a:t>
            </a:r>
          </a:p>
          <a:p>
            <a:r>
              <a:t>Internal source: Cedarville App Portal User Guide and Quick Start (reviewed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this in terms of readiness, not capability. Create Only is useful when a team needs time to work with Codex or a developer before a first deployment. Create &amp; Publish follows the initial Azure path when the starter is appropriate for it.</a:t>
            </a:r>
          </a:p>
          <a:p>
            <a:endParaRPr/>
          </a:p>
          <a:p>
            <a:r>
              <a:t>[Sources]</a:t>
            </a:r>
          </a:p>
          <a:p>
            <a:r>
              <a:t>Internal source: Cedarville App Portal User Guide and Quick Start (reviewed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corrects a common misunderstanding: after setup, users should not treat the downloaded ZIP as the ongoing working copy. The managed GitHub repository is the supported shared location for Codex, reviewers, collaborators, and Azure publishing.</a:t>
            </a:r>
          </a:p>
          <a:p>
            <a:endParaRPr/>
          </a:p>
          <a:p>
            <a:r>
              <a:t>[Sources]</a:t>
            </a:r>
          </a:p>
          <a:p>
            <a:r>
              <a:t>Internal source: Cedarville App Portal User Guide and Quick Start (reviewed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Set the right expectation: a successful deployment means Azure started the app. It does not prove every form, permission, integration, or data rule works. The user must still test the most important task.</a:t>
            </a:r>
          </a:p>
          <a:p>
            <a:endParaRPr/>
          </a:p>
          <a:p>
            <a:r>
              <a:t>[Sources]</a:t>
            </a:r>
          </a:p>
          <a:p>
            <a:r>
              <a:t>Internal source: Cedarville App Portal User Guide and Quick Start (reviewed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stewardship slide. Clarify the difference between portal collaboration and GitHub access. Reinforce safe support practices and the quick rule: never send passwords, secrets, private keys, or environment variable contents.</a:t>
            </a:r>
          </a:p>
          <a:p>
            <a:endParaRPr/>
          </a:p>
          <a:p>
            <a:r>
              <a:t>[Sources]</a:t>
            </a:r>
          </a:p>
          <a:p>
            <a:r>
              <a:t>Internal source: Cedarville App Portal User Guide and Quick Start (reviewed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by inviting questions about the participants’ first app ideas. If time remains, ask participants to name their audience and the primary task their app should support. This creates a productive bridge to choosing a template.</a:t>
            </a:r>
          </a:p>
          <a:p>
            <a:endParaRPr/>
          </a:p>
          <a:p>
            <a:r>
              <a:t>[Sources]</a:t>
            </a:r>
          </a:p>
          <a:p>
            <a:r>
              <a:t>Internal source: Cedarville App Portal User Guide and Quick Start (reviewed 2026-08-03).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3B66"/>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C33AA04-B540-4303-9C7A-95A5187F1C95}"/>
              </a:ext>
            </a:extLst>
          </p:cNvPr>
          <p:cNvSpPr>
            <a:spLocks noGrp="1"/>
          </p:cNvSpPr>
          <p:nvPr/>
        </p:nvSpPr>
        <p:spPr>
          <a:xfrm>
            <a:off x="0" y="0"/>
            <a:ext cx="12192000" cy="152400"/>
          </a:xfrm>
          <a:prstGeom prst="rect">
            <a:avLst/>
          </a:prstGeom>
          <a:solidFill>
            <a:srgbClr val="FBBF24"/>
          </a:solidFill>
          <a:ln w="0">
            <a:noFill/>
            <a:prstDash val="solid"/>
          </a:ln>
        </p:spPr>
        <p:txBody>
          <a:bodyPr/>
          <a:lstStyle/>
          <a:p>
            <a:endParaRPr lang="en-US"/>
          </a:p>
        </p:txBody>
      </p:sp>
      <p:sp>
        <p:nvSpPr>
          <p:cNvPr id="2" name="Rectangle 1">
            <a:extLst>
              <a:ext uri="{FF2B5EF4-FFF2-40B4-BE49-F238E27FC236}">
                <a16:creationId xmlns:a16="http://schemas.microsoft.com/office/drawing/2014/main" id="{3FA513FE-9F7D-4ECD-94E5-A334F7D1CA66}"/>
              </a:ext>
            </a:extLst>
          </p:cNvPr>
          <p:cNvSpPr>
            <a:spLocks noGrp="1"/>
          </p:cNvSpPr>
          <p:nvPr/>
        </p:nvSpPr>
        <p:spPr>
          <a:xfrm>
            <a:off x="704850" y="895350"/>
            <a:ext cx="4095750" cy="266700"/>
          </a:xfrm>
          <a:prstGeom prst="rect">
            <a:avLst/>
          </a:prstGeom>
          <a:noFill/>
          <a:ln w="0">
            <a:noFill/>
            <a:prstDash val="solid"/>
          </a:ln>
        </p:spPr>
        <p:txBody>
          <a:bodyPr anchor="t">
            <a:normAutofit fontScale="85185"/>
          </a:bodyPr>
          <a:lstStyle/>
          <a:p>
            <a:pPr algn="l">
              <a:defRPr sz="1350" b="1">
                <a:solidFill>
                  <a:srgbClr val="FBBF24"/>
                </a:solidFill>
                <a:latin typeface="Arial"/>
                <a:ea typeface="Arial"/>
                <a:cs typeface="Arial"/>
              </a:defRPr>
            </a:pPr>
            <a:r>
              <a:rPr sz="1350" b="1">
                <a:solidFill>
                  <a:srgbClr val="FBBF24"/>
                </a:solidFill>
                <a:latin typeface="Arial"/>
                <a:ea typeface="Arial"/>
                <a:cs typeface="Arial"/>
              </a:rPr>
              <a:t>CEDARVILLE UNIVERSITY</a:t>
            </a:r>
          </a:p>
        </p:txBody>
      </p:sp>
      <p:sp>
        <p:nvSpPr>
          <p:cNvPr id="3" name="Rectangle 2">
            <a:extLst>
              <a:ext uri="{FF2B5EF4-FFF2-40B4-BE49-F238E27FC236}">
                <a16:creationId xmlns:a16="http://schemas.microsoft.com/office/drawing/2014/main" id="{53046C91-1C5B-4B4D-B903-9FB53DF72BDF}"/>
              </a:ext>
            </a:extLst>
          </p:cNvPr>
          <p:cNvSpPr>
            <a:spLocks noGrp="1"/>
          </p:cNvSpPr>
          <p:nvPr/>
        </p:nvSpPr>
        <p:spPr>
          <a:xfrm>
            <a:off x="685800" y="1524000"/>
            <a:ext cx="7429500" cy="1714500"/>
          </a:xfrm>
          <a:prstGeom prst="rect">
            <a:avLst/>
          </a:prstGeom>
          <a:noFill/>
          <a:ln w="0">
            <a:noFill/>
            <a:prstDash val="solid"/>
          </a:ln>
        </p:spPr>
        <p:txBody>
          <a:bodyPr anchor="t">
            <a:normAutofit/>
          </a:bodyPr>
          <a:lstStyle/>
          <a:p>
            <a:pPr algn="l">
              <a:defRPr sz="5100" b="1">
                <a:solidFill>
                  <a:srgbClr val="FFFFFF"/>
                </a:solidFill>
                <a:latin typeface="Arial"/>
                <a:ea typeface="Arial"/>
                <a:cs typeface="Arial"/>
              </a:defRPr>
            </a:pPr>
            <a:r>
              <a:rPr sz="5100" b="1">
                <a:solidFill>
                  <a:srgbClr val="FFFFFF"/>
                </a:solidFill>
                <a:latin typeface="Arial"/>
                <a:ea typeface="Arial"/>
                <a:cs typeface="Arial"/>
              </a:rPr>
              <a:t>Welcome to the</a:t>
            </a:r>
          </a:p>
          <a:p>
            <a:pPr algn="l">
              <a:defRPr sz="5100" b="1">
                <a:solidFill>
                  <a:srgbClr val="FFFFFF"/>
                </a:solidFill>
                <a:latin typeface="Arial"/>
                <a:ea typeface="Arial"/>
                <a:cs typeface="Arial"/>
              </a:defRPr>
            </a:pPr>
            <a:r>
              <a:rPr sz="5100" b="1">
                <a:solidFill>
                  <a:srgbClr val="FFFFFF"/>
                </a:solidFill>
                <a:latin typeface="Arial"/>
                <a:ea typeface="Arial"/>
                <a:cs typeface="Arial"/>
              </a:rPr>
              <a:t>App Portal</a:t>
            </a:r>
          </a:p>
        </p:txBody>
      </p:sp>
      <p:sp>
        <p:nvSpPr>
          <p:cNvPr id="4" name="Rectangle 3">
            <a:extLst>
              <a:ext uri="{FF2B5EF4-FFF2-40B4-BE49-F238E27FC236}">
                <a16:creationId xmlns:a16="http://schemas.microsoft.com/office/drawing/2014/main" id="{37066001-13FE-4A82-A587-2FAFC172E87B}"/>
              </a:ext>
            </a:extLst>
          </p:cNvPr>
          <p:cNvSpPr>
            <a:spLocks noGrp="1"/>
          </p:cNvSpPr>
          <p:nvPr/>
        </p:nvSpPr>
        <p:spPr>
          <a:xfrm>
            <a:off x="742950" y="3638550"/>
            <a:ext cx="6191250" cy="666750"/>
          </a:xfrm>
          <a:prstGeom prst="rect">
            <a:avLst/>
          </a:prstGeom>
          <a:noFill/>
          <a:ln w="0">
            <a:noFill/>
            <a:prstDash val="solid"/>
          </a:ln>
        </p:spPr>
        <p:txBody>
          <a:bodyPr anchor="t">
            <a:normAutofit/>
          </a:bodyPr>
          <a:lstStyle/>
          <a:p>
            <a:pPr algn="l">
              <a:defRPr sz="1875" b="0">
                <a:solidFill>
                  <a:srgbClr val="D9E2EC"/>
                </a:solidFill>
                <a:latin typeface="Arial"/>
                <a:ea typeface="Arial"/>
                <a:cs typeface="Arial"/>
              </a:defRPr>
            </a:pPr>
            <a:r>
              <a:rPr sz="1875" b="0">
                <a:solidFill>
                  <a:srgbClr val="D9E2EC"/>
                </a:solidFill>
                <a:latin typeface="Arial"/>
                <a:ea typeface="Arial"/>
                <a:cs typeface="Arial"/>
              </a:rPr>
              <a:t>A practical orientation for creating, customizing, and publishing your first app</a:t>
            </a:r>
          </a:p>
        </p:txBody>
      </p:sp>
      <p:sp>
        <p:nvSpPr>
          <p:cNvPr id="5" name="Oval 4">
            <a:extLst>
              <a:ext uri="{FF2B5EF4-FFF2-40B4-BE49-F238E27FC236}">
                <a16:creationId xmlns:a16="http://schemas.microsoft.com/office/drawing/2014/main" id="{043F0CC8-0E83-4759-A239-9E0A92A42A76}"/>
              </a:ext>
            </a:extLst>
          </p:cNvPr>
          <p:cNvSpPr>
            <a:spLocks noGrp="1"/>
          </p:cNvSpPr>
          <p:nvPr/>
        </p:nvSpPr>
        <p:spPr>
          <a:xfrm>
            <a:off x="8763000" y="1428750"/>
            <a:ext cx="2095500" cy="2095500"/>
          </a:xfrm>
          <a:prstGeom prst="ellipse">
            <a:avLst/>
          </a:prstGeom>
          <a:solidFill>
            <a:srgbClr val="FBBF24"/>
          </a:solidFill>
          <a:ln w="0">
            <a:noFill/>
            <a:prstDash val="solid"/>
          </a:ln>
        </p:spPr>
        <p:txBody>
          <a:bodyPr/>
          <a:lstStyle/>
          <a:p>
            <a:endParaRPr lang="en-US"/>
          </a:p>
        </p:txBody>
      </p:sp>
      <p:sp>
        <p:nvSpPr>
          <p:cNvPr id="6" name="Rectangle 5">
            <a:extLst>
              <a:ext uri="{FF2B5EF4-FFF2-40B4-BE49-F238E27FC236}">
                <a16:creationId xmlns:a16="http://schemas.microsoft.com/office/drawing/2014/main" id="{D4C2CFE7-D35B-4532-925E-A876A09E231F}"/>
              </a:ext>
            </a:extLst>
          </p:cNvPr>
          <p:cNvSpPr>
            <a:spLocks noGrp="1"/>
          </p:cNvSpPr>
          <p:nvPr/>
        </p:nvSpPr>
        <p:spPr>
          <a:xfrm>
            <a:off x="8763000" y="2047875"/>
            <a:ext cx="2095500" cy="666750"/>
          </a:xfrm>
          <a:prstGeom prst="rect">
            <a:avLst/>
          </a:prstGeom>
          <a:noFill/>
          <a:ln w="0">
            <a:noFill/>
            <a:prstDash val="solid"/>
          </a:ln>
        </p:spPr>
        <p:txBody>
          <a:bodyPr anchor="t">
            <a:normAutofit fontScale="96795" lnSpcReduction="10000"/>
          </a:bodyPr>
          <a:lstStyle/>
          <a:p>
            <a:pPr algn="ctr">
              <a:defRPr sz="3900" b="1">
                <a:solidFill>
                  <a:srgbClr val="003B66"/>
                </a:solidFill>
                <a:latin typeface="Arial"/>
                <a:ea typeface="Arial"/>
                <a:cs typeface="Arial"/>
              </a:defRPr>
            </a:pPr>
            <a:r>
              <a:rPr sz="3900" b="1">
                <a:solidFill>
                  <a:srgbClr val="003B66"/>
                </a:solidFill>
                <a:latin typeface="Arial"/>
                <a:ea typeface="Arial"/>
                <a:cs typeface="Arial"/>
              </a:rPr>
              <a:t>CU</a:t>
            </a:r>
          </a:p>
        </p:txBody>
      </p:sp>
      <p:sp>
        <p:nvSpPr>
          <p:cNvPr id="7" name="Rectangle 6">
            <a:extLst>
              <a:ext uri="{FF2B5EF4-FFF2-40B4-BE49-F238E27FC236}">
                <a16:creationId xmlns:a16="http://schemas.microsoft.com/office/drawing/2014/main" id="{9F332D52-4D08-4015-A4B8-A0555B8C2E2B}"/>
              </a:ext>
            </a:extLst>
          </p:cNvPr>
          <p:cNvSpPr>
            <a:spLocks noGrp="1"/>
          </p:cNvSpPr>
          <p:nvPr/>
        </p:nvSpPr>
        <p:spPr>
          <a:xfrm>
            <a:off x="742950" y="5734050"/>
            <a:ext cx="3333750" cy="285750"/>
          </a:xfrm>
          <a:prstGeom prst="rect">
            <a:avLst/>
          </a:prstGeom>
          <a:noFill/>
          <a:ln w="0">
            <a:noFill/>
            <a:prstDash val="solid"/>
          </a:ln>
        </p:spPr>
        <p:txBody>
          <a:bodyPr anchor="t">
            <a:normAutofit/>
          </a:bodyPr>
          <a:lstStyle/>
          <a:p>
            <a:pPr algn="l">
              <a:defRPr sz="1275" b="0">
                <a:solidFill>
                  <a:srgbClr val="9FB3C8"/>
                </a:solidFill>
                <a:latin typeface="Arial"/>
                <a:ea typeface="Arial"/>
                <a:cs typeface="Arial"/>
              </a:defRPr>
            </a:pPr>
            <a:r>
              <a:rPr sz="1275" b="0">
                <a:solidFill>
                  <a:srgbClr val="9FB3C8"/>
                </a:solidFill>
                <a:latin typeface="Arial"/>
                <a:ea typeface="Arial"/>
                <a:cs typeface="Arial"/>
              </a:rPr>
              <a:t>New-user orientation</a:t>
            </a:r>
          </a:p>
        </p:txBody>
      </p:sp>
    </p:spTree>
    <p:extLst>
      <p:ext uri="{BB962C8B-B14F-4D97-AF65-F5344CB8AC3E}">
        <p14:creationId xmlns:p14="http://schemas.microsoft.com/office/powerpoint/2010/main" val="1709564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C1B4A6-92A0-499F-A9E5-1B943BA66434}"/>
              </a:ext>
            </a:extLst>
          </p:cNvPr>
          <p:cNvSpPr>
            <a:spLocks noGrp="1"/>
          </p:cNvSpPr>
          <p:nvPr/>
        </p:nvSpPr>
        <p:spPr>
          <a:xfrm>
            <a:off x="685800" y="304800"/>
            <a:ext cx="5715000" cy="209550"/>
          </a:xfrm>
          <a:prstGeom prst="rect">
            <a:avLst/>
          </a:prstGeom>
          <a:noFill/>
          <a:ln w="0">
            <a:noFill/>
            <a:prstDash val="solid"/>
          </a:ln>
        </p:spPr>
        <p:txBody>
          <a:bodyPr anchor="t">
            <a:normAutofit fontScale="86111" lnSpcReduction="10000"/>
          </a:bodyPr>
          <a:lstStyle/>
          <a:p>
            <a:pPr algn="l">
              <a:defRPr sz="900" b="1">
                <a:solidFill>
                  <a:srgbClr val="005A9C"/>
                </a:solidFill>
                <a:latin typeface="Arial"/>
                <a:ea typeface="Arial"/>
                <a:cs typeface="Arial"/>
              </a:defRPr>
            </a:pPr>
            <a:r>
              <a:rPr sz="900" b="1">
                <a:solidFill>
                  <a:srgbClr val="005A9C"/>
                </a:solidFill>
                <a:latin typeface="Arial"/>
                <a:ea typeface="Arial"/>
                <a:cs typeface="Arial"/>
              </a:rPr>
              <a:t>CEDARVILLE APP PORTAL</a:t>
            </a:r>
          </a:p>
        </p:txBody>
      </p:sp>
      <p:sp>
        <p:nvSpPr>
          <p:cNvPr id="2" name="Rectangle 1">
            <a:extLst>
              <a:ext uri="{FF2B5EF4-FFF2-40B4-BE49-F238E27FC236}">
                <a16:creationId xmlns:a16="http://schemas.microsoft.com/office/drawing/2014/main" id="{4A3AC3C7-08FB-4EEB-8CA9-0B8A416551AE}"/>
              </a:ext>
            </a:extLst>
          </p:cNvPr>
          <p:cNvSpPr>
            <a:spLocks noGrp="1"/>
          </p:cNvSpPr>
          <p:nvPr/>
        </p:nvSpPr>
        <p:spPr>
          <a:xfrm>
            <a:off x="685800" y="647700"/>
            <a:ext cx="9334500" cy="523875"/>
          </a:xfrm>
          <a:prstGeom prst="rect">
            <a:avLst/>
          </a:prstGeom>
          <a:noFill/>
          <a:ln w="0">
            <a:noFill/>
            <a:prstDash val="solid"/>
          </a:ln>
        </p:spPr>
        <p:txBody>
          <a:bodyPr anchor="t">
            <a:normAutofit fontScale="91514"/>
          </a:bodyPr>
          <a:lstStyle/>
          <a:p>
            <a:pPr algn="l">
              <a:defRPr sz="2850" b="1">
                <a:solidFill>
                  <a:srgbClr val="102A43"/>
                </a:solidFill>
                <a:latin typeface="Arial"/>
                <a:ea typeface="Arial"/>
                <a:cs typeface="Arial"/>
              </a:defRPr>
            </a:pPr>
            <a:r>
              <a:rPr sz="2850" b="1">
                <a:solidFill>
                  <a:srgbClr val="102A43"/>
                </a:solidFill>
                <a:latin typeface="Arial"/>
                <a:ea typeface="Arial"/>
                <a:cs typeface="Arial"/>
              </a:rPr>
              <a:t>The portal turns an app idea into a managed starting point</a:t>
            </a:r>
          </a:p>
        </p:txBody>
      </p:sp>
      <p:sp>
        <p:nvSpPr>
          <p:cNvPr id="3" name="Rectangle 2">
            <a:extLst>
              <a:ext uri="{FF2B5EF4-FFF2-40B4-BE49-F238E27FC236}">
                <a16:creationId xmlns:a16="http://schemas.microsoft.com/office/drawing/2014/main" id="{7891729E-995F-4E0A-BAA0-2BBC17B75016}"/>
              </a:ext>
            </a:extLst>
          </p:cNvPr>
          <p:cNvSpPr>
            <a:spLocks noGrp="1"/>
          </p:cNvSpPr>
          <p:nvPr/>
        </p:nvSpPr>
        <p:spPr>
          <a:xfrm>
            <a:off x="685800" y="1285875"/>
            <a:ext cx="10820400" cy="28575"/>
          </a:xfrm>
          <a:prstGeom prst="rect">
            <a:avLst/>
          </a:prstGeom>
          <a:solidFill>
            <a:srgbClr val="FBBF24"/>
          </a:solidFill>
          <a:ln w="0">
            <a:noFill/>
            <a:prstDash val="solid"/>
          </a:ln>
        </p:spPr>
        <p:txBody>
          <a:bodyPr/>
          <a:lstStyle/>
          <a:p>
            <a:endParaRPr lang="en-US"/>
          </a:p>
        </p:txBody>
      </p:sp>
      <p:sp>
        <p:nvSpPr>
          <p:cNvPr id="4" name="Rectangle 3">
            <a:extLst>
              <a:ext uri="{FF2B5EF4-FFF2-40B4-BE49-F238E27FC236}">
                <a16:creationId xmlns:a16="http://schemas.microsoft.com/office/drawing/2014/main" id="{78D3F960-29E2-4A28-BFD9-0F1A53D7274F}"/>
              </a:ext>
            </a:extLst>
          </p:cNvPr>
          <p:cNvSpPr>
            <a:spLocks noGrp="1"/>
          </p:cNvSpPr>
          <p:nvPr/>
        </p:nvSpPr>
        <p:spPr>
          <a:xfrm>
            <a:off x="10839450" y="333375"/>
            <a:ext cx="666750" cy="228600"/>
          </a:xfrm>
          <a:prstGeom prst="rect">
            <a:avLst/>
          </a:prstGeom>
          <a:noFill/>
          <a:ln w="0">
            <a:noFill/>
            <a:prstDash val="solid"/>
          </a:ln>
        </p:spPr>
        <p:txBody>
          <a:bodyPr anchor="t">
            <a:normAutofit fontScale="93214" lnSpcReduction="10000"/>
          </a:bodyPr>
          <a:lstStyle/>
          <a:p>
            <a:pPr algn="r">
              <a:defRPr sz="1050" b="0">
                <a:solidFill>
                  <a:srgbClr val="52606D"/>
                </a:solidFill>
                <a:latin typeface="Arial"/>
                <a:ea typeface="Arial"/>
                <a:cs typeface="Arial"/>
              </a:defRPr>
            </a:pPr>
            <a:r>
              <a:rPr sz="1050" b="0">
                <a:solidFill>
                  <a:srgbClr val="52606D"/>
                </a:solidFill>
                <a:latin typeface="Arial"/>
                <a:ea typeface="Arial"/>
                <a:cs typeface="Arial"/>
              </a:rPr>
              <a:t>02</a:t>
            </a:r>
          </a:p>
        </p:txBody>
      </p:sp>
      <p:sp>
        <p:nvSpPr>
          <p:cNvPr id="5" name="Rectangle 4">
            <a:extLst>
              <a:ext uri="{FF2B5EF4-FFF2-40B4-BE49-F238E27FC236}">
                <a16:creationId xmlns:a16="http://schemas.microsoft.com/office/drawing/2014/main" id="{118498C2-3387-4217-9C78-2F48D9ACC7EA}"/>
              </a:ext>
            </a:extLst>
          </p:cNvPr>
          <p:cNvSpPr>
            <a:spLocks noGrp="1"/>
          </p:cNvSpPr>
          <p:nvPr/>
        </p:nvSpPr>
        <p:spPr>
          <a:xfrm>
            <a:off x="685800" y="1714500"/>
            <a:ext cx="9715500" cy="619125"/>
          </a:xfrm>
          <a:prstGeom prst="rect">
            <a:avLst/>
          </a:prstGeom>
          <a:noFill/>
          <a:ln w="0">
            <a:noFill/>
            <a:prstDash val="solid"/>
          </a:ln>
        </p:spPr>
        <p:txBody>
          <a:bodyPr anchor="t">
            <a:normAutofit fontScale="89940" lnSpcReduction="10000"/>
          </a:bodyPr>
          <a:lstStyle/>
          <a:p>
            <a:pPr algn="l">
              <a:defRPr sz="2100" b="0">
                <a:solidFill>
                  <a:srgbClr val="52606D"/>
                </a:solidFill>
                <a:latin typeface="Arial"/>
                <a:ea typeface="Arial"/>
                <a:cs typeface="Arial"/>
              </a:defRPr>
            </a:pPr>
            <a:r>
              <a:rPr sz="2100" b="0">
                <a:solidFill>
                  <a:srgbClr val="52606D"/>
                </a:solidFill>
                <a:latin typeface="Arial"/>
                <a:ea typeface="Arial"/>
                <a:cs typeface="Arial"/>
              </a:rPr>
              <a:t>You bring the need. The portal brings Cedarville-approved defaults, a shared code home, and a path to a live app.</a:t>
            </a:r>
          </a:p>
        </p:txBody>
      </p:sp>
      <p:sp>
        <p:nvSpPr>
          <p:cNvPr id="6" name="Rectangle 5">
            <a:extLst>
              <a:ext uri="{FF2B5EF4-FFF2-40B4-BE49-F238E27FC236}">
                <a16:creationId xmlns:a16="http://schemas.microsoft.com/office/drawing/2014/main" id="{BC2E8538-4E25-4577-B67F-9857992F33D4}"/>
              </a:ext>
            </a:extLst>
          </p:cNvPr>
          <p:cNvSpPr>
            <a:spLocks noGrp="1"/>
          </p:cNvSpPr>
          <p:nvPr/>
        </p:nvSpPr>
        <p:spPr>
          <a:xfrm>
            <a:off x="685800" y="3048000"/>
            <a:ext cx="3143250" cy="1809750"/>
          </a:xfrm>
          <a:prstGeom prst="rect">
            <a:avLst/>
          </a:prstGeom>
          <a:solidFill>
            <a:srgbClr val="F4F7FA"/>
          </a:solidFill>
          <a:ln w="9525">
            <a:solidFill>
              <a:srgbClr val="CBD5E1"/>
            </a:solidFill>
            <a:prstDash val="solid"/>
          </a:ln>
        </p:spPr>
        <p:txBody>
          <a:bodyPr/>
          <a:lstStyle/>
          <a:p>
            <a:endParaRPr lang="en-US"/>
          </a:p>
        </p:txBody>
      </p:sp>
      <p:sp>
        <p:nvSpPr>
          <p:cNvPr id="7" name="Rectangle 6">
            <a:extLst>
              <a:ext uri="{FF2B5EF4-FFF2-40B4-BE49-F238E27FC236}">
                <a16:creationId xmlns:a16="http://schemas.microsoft.com/office/drawing/2014/main" id="{C6029E83-F6A9-40A7-A3B8-383A23F8BD4B}"/>
              </a:ext>
            </a:extLst>
          </p:cNvPr>
          <p:cNvSpPr>
            <a:spLocks noGrp="1"/>
          </p:cNvSpPr>
          <p:nvPr/>
        </p:nvSpPr>
        <p:spPr>
          <a:xfrm>
            <a:off x="923925" y="3333750"/>
            <a:ext cx="2667000" cy="400050"/>
          </a:xfrm>
          <a:prstGeom prst="rect">
            <a:avLst/>
          </a:prstGeom>
          <a:noFill/>
          <a:ln w="0">
            <a:noFill/>
            <a:prstDash val="solid"/>
          </a:ln>
        </p:spPr>
        <p:txBody>
          <a:bodyPr anchor="t">
            <a:normAutofit fontScale="96428"/>
          </a:bodyPr>
          <a:lstStyle/>
          <a:p>
            <a:pPr algn="l">
              <a:defRPr sz="2100" b="1">
                <a:solidFill>
                  <a:srgbClr val="003B66"/>
                </a:solidFill>
                <a:latin typeface="Arial"/>
                <a:ea typeface="Arial"/>
                <a:cs typeface="Arial"/>
              </a:defRPr>
            </a:pPr>
            <a:r>
              <a:rPr sz="2100" b="1">
                <a:solidFill>
                  <a:srgbClr val="003B66"/>
                </a:solidFill>
                <a:latin typeface="Arial"/>
                <a:ea typeface="Arial"/>
                <a:cs typeface="Arial"/>
              </a:rPr>
              <a:t>Your idea</a:t>
            </a:r>
          </a:p>
        </p:txBody>
      </p:sp>
      <p:sp>
        <p:nvSpPr>
          <p:cNvPr id="8" name="Rectangle 7">
            <a:extLst>
              <a:ext uri="{FF2B5EF4-FFF2-40B4-BE49-F238E27FC236}">
                <a16:creationId xmlns:a16="http://schemas.microsoft.com/office/drawing/2014/main" id="{90384D83-65DD-4E06-AC0A-691F1485F251}"/>
              </a:ext>
            </a:extLst>
          </p:cNvPr>
          <p:cNvSpPr>
            <a:spLocks noGrp="1"/>
          </p:cNvSpPr>
          <p:nvPr/>
        </p:nvSpPr>
        <p:spPr>
          <a:xfrm>
            <a:off x="923925" y="3905250"/>
            <a:ext cx="2571750" cy="619125"/>
          </a:xfrm>
          <a:prstGeom prst="rect">
            <a:avLst/>
          </a:prstGeom>
          <a:noFill/>
          <a:ln w="0">
            <a:noFill/>
            <a:prstDash val="solid"/>
          </a:ln>
        </p:spPr>
        <p:txBody>
          <a:bodyPr anchor="t">
            <a:normAutofit/>
          </a:bodyPr>
          <a:lstStyle/>
          <a:p>
            <a:pPr algn="l">
              <a:defRPr sz="1500" b="0">
                <a:solidFill>
                  <a:srgbClr val="52606D"/>
                </a:solidFill>
                <a:latin typeface="Arial"/>
                <a:ea typeface="Arial"/>
                <a:cs typeface="Arial"/>
              </a:defRPr>
            </a:pPr>
            <a:r>
              <a:rPr sz="1500" b="0">
                <a:solidFill>
                  <a:srgbClr val="52606D"/>
                </a:solidFill>
                <a:latin typeface="Arial"/>
                <a:ea typeface="Arial"/>
                <a:cs typeface="Arial"/>
              </a:rPr>
              <a:t>A clear problem, audience, and outcome</a:t>
            </a:r>
          </a:p>
        </p:txBody>
      </p:sp>
      <p:sp>
        <p:nvSpPr>
          <p:cNvPr id="9" name="Rectangle 8">
            <a:extLst>
              <a:ext uri="{FF2B5EF4-FFF2-40B4-BE49-F238E27FC236}">
                <a16:creationId xmlns:a16="http://schemas.microsoft.com/office/drawing/2014/main" id="{5189F329-6106-4C3A-995B-66E56A734F12}"/>
              </a:ext>
            </a:extLst>
          </p:cNvPr>
          <p:cNvSpPr>
            <a:spLocks noGrp="1"/>
          </p:cNvSpPr>
          <p:nvPr/>
        </p:nvSpPr>
        <p:spPr>
          <a:xfrm>
            <a:off x="4286250" y="3048000"/>
            <a:ext cx="3143250" cy="1809750"/>
          </a:xfrm>
          <a:prstGeom prst="rect">
            <a:avLst/>
          </a:prstGeom>
          <a:solidFill>
            <a:srgbClr val="F4F7FA"/>
          </a:solidFill>
          <a:ln w="9525">
            <a:solidFill>
              <a:srgbClr val="CBD5E1"/>
            </a:solidFill>
            <a:prstDash val="solid"/>
          </a:ln>
        </p:spPr>
        <p:txBody>
          <a:bodyPr/>
          <a:lstStyle/>
          <a:p>
            <a:endParaRPr lang="en-US"/>
          </a:p>
        </p:txBody>
      </p:sp>
      <p:sp>
        <p:nvSpPr>
          <p:cNvPr id="10" name="Rectangle 9">
            <a:extLst>
              <a:ext uri="{FF2B5EF4-FFF2-40B4-BE49-F238E27FC236}">
                <a16:creationId xmlns:a16="http://schemas.microsoft.com/office/drawing/2014/main" id="{E3863072-07A0-4067-A89B-8D50CA8E367B}"/>
              </a:ext>
            </a:extLst>
          </p:cNvPr>
          <p:cNvSpPr>
            <a:spLocks noGrp="1"/>
          </p:cNvSpPr>
          <p:nvPr/>
        </p:nvSpPr>
        <p:spPr>
          <a:xfrm>
            <a:off x="4524375" y="3333750"/>
            <a:ext cx="2667000" cy="400050"/>
          </a:xfrm>
          <a:prstGeom prst="rect">
            <a:avLst/>
          </a:prstGeom>
          <a:noFill/>
          <a:ln w="0">
            <a:noFill/>
            <a:prstDash val="solid"/>
          </a:ln>
        </p:spPr>
        <p:txBody>
          <a:bodyPr anchor="t">
            <a:normAutofit fontScale="96428"/>
          </a:bodyPr>
          <a:lstStyle/>
          <a:p>
            <a:pPr algn="l">
              <a:defRPr sz="2100" b="1">
                <a:solidFill>
                  <a:srgbClr val="003B66"/>
                </a:solidFill>
                <a:latin typeface="Arial"/>
                <a:ea typeface="Arial"/>
                <a:cs typeface="Arial"/>
              </a:defRPr>
            </a:pPr>
            <a:r>
              <a:rPr sz="2100" b="1">
                <a:solidFill>
                  <a:srgbClr val="003B66"/>
                </a:solidFill>
                <a:latin typeface="Arial"/>
                <a:ea typeface="Arial"/>
                <a:cs typeface="Arial"/>
              </a:rPr>
              <a:t>A starter app</a:t>
            </a:r>
          </a:p>
        </p:txBody>
      </p:sp>
      <p:sp>
        <p:nvSpPr>
          <p:cNvPr id="11" name="Rectangle 10">
            <a:extLst>
              <a:ext uri="{FF2B5EF4-FFF2-40B4-BE49-F238E27FC236}">
                <a16:creationId xmlns:a16="http://schemas.microsoft.com/office/drawing/2014/main" id="{45B54274-F606-49C7-B61A-EED211505D08}"/>
              </a:ext>
            </a:extLst>
          </p:cNvPr>
          <p:cNvSpPr>
            <a:spLocks noGrp="1"/>
          </p:cNvSpPr>
          <p:nvPr/>
        </p:nvSpPr>
        <p:spPr>
          <a:xfrm>
            <a:off x="4524375" y="3905250"/>
            <a:ext cx="2571750" cy="619125"/>
          </a:xfrm>
          <a:prstGeom prst="rect">
            <a:avLst/>
          </a:prstGeom>
          <a:noFill/>
          <a:ln w="0">
            <a:noFill/>
            <a:prstDash val="solid"/>
          </a:ln>
        </p:spPr>
        <p:txBody>
          <a:bodyPr anchor="t">
            <a:normAutofit/>
          </a:bodyPr>
          <a:lstStyle/>
          <a:p>
            <a:pPr algn="l">
              <a:defRPr sz="1500" b="0">
                <a:solidFill>
                  <a:srgbClr val="52606D"/>
                </a:solidFill>
                <a:latin typeface="Arial"/>
                <a:ea typeface="Arial"/>
                <a:cs typeface="Arial"/>
              </a:defRPr>
            </a:pPr>
            <a:r>
              <a:rPr sz="1500" b="0">
                <a:solidFill>
                  <a:srgbClr val="52606D"/>
                </a:solidFill>
                <a:latin typeface="Arial"/>
                <a:ea typeface="Arial"/>
                <a:cs typeface="Arial"/>
              </a:rPr>
              <a:t>A template with the right foundations</a:t>
            </a:r>
          </a:p>
        </p:txBody>
      </p:sp>
      <p:sp>
        <p:nvSpPr>
          <p:cNvPr id="12" name="Rectangle 11">
            <a:extLst>
              <a:ext uri="{FF2B5EF4-FFF2-40B4-BE49-F238E27FC236}">
                <a16:creationId xmlns:a16="http://schemas.microsoft.com/office/drawing/2014/main" id="{DAFA0D98-C033-4D34-A35A-66EBDFA02D68}"/>
              </a:ext>
            </a:extLst>
          </p:cNvPr>
          <p:cNvSpPr>
            <a:spLocks noGrp="1"/>
          </p:cNvSpPr>
          <p:nvPr/>
        </p:nvSpPr>
        <p:spPr>
          <a:xfrm>
            <a:off x="7886700" y="3048000"/>
            <a:ext cx="3143250" cy="1809750"/>
          </a:xfrm>
          <a:prstGeom prst="rect">
            <a:avLst/>
          </a:prstGeom>
          <a:solidFill>
            <a:srgbClr val="F4F7FA"/>
          </a:solidFill>
          <a:ln w="9525">
            <a:solidFill>
              <a:srgbClr val="CBD5E1"/>
            </a:solidFill>
            <a:prstDash val="solid"/>
          </a:ln>
        </p:spPr>
        <p:txBody>
          <a:bodyPr/>
          <a:lstStyle/>
          <a:p>
            <a:endParaRPr lang="en-US"/>
          </a:p>
        </p:txBody>
      </p:sp>
      <p:sp>
        <p:nvSpPr>
          <p:cNvPr id="13" name="Rectangle 12">
            <a:extLst>
              <a:ext uri="{FF2B5EF4-FFF2-40B4-BE49-F238E27FC236}">
                <a16:creationId xmlns:a16="http://schemas.microsoft.com/office/drawing/2014/main" id="{8DA69CE1-73C2-447F-82EF-B8AFF85E26B5}"/>
              </a:ext>
            </a:extLst>
          </p:cNvPr>
          <p:cNvSpPr>
            <a:spLocks noGrp="1"/>
          </p:cNvSpPr>
          <p:nvPr/>
        </p:nvSpPr>
        <p:spPr>
          <a:xfrm>
            <a:off x="8124825" y="3333750"/>
            <a:ext cx="2667000" cy="400050"/>
          </a:xfrm>
          <a:prstGeom prst="rect">
            <a:avLst/>
          </a:prstGeom>
          <a:noFill/>
          <a:ln w="0">
            <a:noFill/>
            <a:prstDash val="solid"/>
          </a:ln>
        </p:spPr>
        <p:txBody>
          <a:bodyPr anchor="t">
            <a:normAutofit fontScale="96428"/>
          </a:bodyPr>
          <a:lstStyle/>
          <a:p>
            <a:pPr algn="l">
              <a:defRPr sz="2100" b="1">
                <a:solidFill>
                  <a:srgbClr val="003B66"/>
                </a:solidFill>
                <a:latin typeface="Arial"/>
                <a:ea typeface="Arial"/>
                <a:cs typeface="Arial"/>
              </a:defRPr>
            </a:pPr>
            <a:r>
              <a:rPr sz="2100" b="1">
                <a:solidFill>
                  <a:srgbClr val="003B66"/>
                </a:solidFill>
                <a:latin typeface="Arial"/>
                <a:ea typeface="Arial"/>
                <a:cs typeface="Arial"/>
              </a:rPr>
              <a:t>A managed path</a:t>
            </a:r>
          </a:p>
        </p:txBody>
      </p:sp>
      <p:sp>
        <p:nvSpPr>
          <p:cNvPr id="14" name="Rectangle 13">
            <a:extLst>
              <a:ext uri="{FF2B5EF4-FFF2-40B4-BE49-F238E27FC236}">
                <a16:creationId xmlns:a16="http://schemas.microsoft.com/office/drawing/2014/main" id="{F65B7D2E-5298-43C5-A225-1A92D5D81113}"/>
              </a:ext>
            </a:extLst>
          </p:cNvPr>
          <p:cNvSpPr>
            <a:spLocks noGrp="1"/>
          </p:cNvSpPr>
          <p:nvPr/>
        </p:nvSpPr>
        <p:spPr>
          <a:xfrm>
            <a:off x="8124825" y="3905250"/>
            <a:ext cx="2571750" cy="619125"/>
          </a:xfrm>
          <a:prstGeom prst="rect">
            <a:avLst/>
          </a:prstGeom>
          <a:noFill/>
          <a:ln w="0">
            <a:noFill/>
            <a:prstDash val="solid"/>
          </a:ln>
        </p:spPr>
        <p:txBody>
          <a:bodyPr anchor="t">
            <a:normAutofit/>
          </a:bodyPr>
          <a:lstStyle/>
          <a:p>
            <a:pPr algn="l">
              <a:defRPr sz="1500" b="0">
                <a:solidFill>
                  <a:srgbClr val="52606D"/>
                </a:solidFill>
                <a:latin typeface="Arial"/>
                <a:ea typeface="Arial"/>
                <a:cs typeface="Arial"/>
              </a:defRPr>
            </a:pPr>
            <a:r>
              <a:rPr sz="1500" b="0">
                <a:solidFill>
                  <a:srgbClr val="52606D"/>
                </a:solidFill>
                <a:latin typeface="Arial"/>
                <a:ea typeface="Arial"/>
                <a:cs typeface="Arial"/>
              </a:rPr>
              <a:t>GitHub, Azure, and support-ready setup</a:t>
            </a:r>
          </a:p>
        </p:txBody>
      </p:sp>
      <p:sp>
        <p:nvSpPr>
          <p:cNvPr id="15" name="Rectangle 14">
            <a:extLst>
              <a:ext uri="{FF2B5EF4-FFF2-40B4-BE49-F238E27FC236}">
                <a16:creationId xmlns:a16="http://schemas.microsoft.com/office/drawing/2014/main" id="{8F0CC33D-390B-4ABC-A6DE-28294E2B5A11}"/>
              </a:ext>
            </a:extLst>
          </p:cNvPr>
          <p:cNvSpPr>
            <a:spLocks noGrp="1"/>
          </p:cNvSpPr>
          <p:nvPr/>
        </p:nvSpPr>
        <p:spPr>
          <a:xfrm>
            <a:off x="0" y="6705600"/>
            <a:ext cx="12192000" cy="152400"/>
          </a:xfrm>
          <a:prstGeom prst="rect">
            <a:avLst/>
          </a:prstGeom>
          <a:solidFill>
            <a:srgbClr val="003B66"/>
          </a:solidFill>
          <a:ln w="0">
            <a:noFill/>
            <a:prstDash val="solid"/>
          </a:ln>
        </p:spPr>
        <p:txBody>
          <a:bodyPr/>
          <a:lstStyle/>
          <a:p>
            <a:endParaRPr lang="en-US"/>
          </a:p>
        </p:txBody>
      </p:sp>
    </p:spTree>
    <p:extLst>
      <p:ext uri="{BB962C8B-B14F-4D97-AF65-F5344CB8AC3E}">
        <p14:creationId xmlns:p14="http://schemas.microsoft.com/office/powerpoint/2010/main" val="1340644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1116590-CEA8-4C28-903F-84A15A963087}"/>
              </a:ext>
            </a:extLst>
          </p:cNvPr>
          <p:cNvSpPr>
            <a:spLocks noGrp="1"/>
          </p:cNvSpPr>
          <p:nvPr/>
        </p:nvSpPr>
        <p:spPr>
          <a:xfrm>
            <a:off x="685800" y="304800"/>
            <a:ext cx="5715000" cy="209550"/>
          </a:xfrm>
          <a:prstGeom prst="rect">
            <a:avLst/>
          </a:prstGeom>
          <a:noFill/>
          <a:ln w="0">
            <a:noFill/>
            <a:prstDash val="solid"/>
          </a:ln>
        </p:spPr>
        <p:txBody>
          <a:bodyPr anchor="t">
            <a:normAutofit fontScale="86111" lnSpcReduction="10000"/>
          </a:bodyPr>
          <a:lstStyle/>
          <a:p>
            <a:pPr algn="l">
              <a:defRPr sz="900" b="1">
                <a:solidFill>
                  <a:srgbClr val="005A9C"/>
                </a:solidFill>
                <a:latin typeface="Arial"/>
                <a:ea typeface="Arial"/>
                <a:cs typeface="Arial"/>
              </a:defRPr>
            </a:pPr>
            <a:r>
              <a:rPr sz="900" b="1">
                <a:solidFill>
                  <a:srgbClr val="005A9C"/>
                </a:solidFill>
                <a:latin typeface="Arial"/>
                <a:ea typeface="Arial"/>
                <a:cs typeface="Arial"/>
              </a:rPr>
              <a:t>CEDARVILLE APP PORTAL</a:t>
            </a:r>
          </a:p>
        </p:txBody>
      </p:sp>
      <p:sp>
        <p:nvSpPr>
          <p:cNvPr id="2" name="Rectangle 1">
            <a:extLst>
              <a:ext uri="{FF2B5EF4-FFF2-40B4-BE49-F238E27FC236}">
                <a16:creationId xmlns:a16="http://schemas.microsoft.com/office/drawing/2014/main" id="{7FC18BB1-7B56-45BF-867F-04770B098D26}"/>
              </a:ext>
            </a:extLst>
          </p:cNvPr>
          <p:cNvSpPr>
            <a:spLocks noGrp="1"/>
          </p:cNvSpPr>
          <p:nvPr/>
        </p:nvSpPr>
        <p:spPr>
          <a:xfrm>
            <a:off x="685800" y="647700"/>
            <a:ext cx="9334500" cy="523875"/>
          </a:xfrm>
          <a:prstGeom prst="rect">
            <a:avLst/>
          </a:prstGeom>
          <a:noFill/>
          <a:ln w="0">
            <a:noFill/>
            <a:prstDash val="solid"/>
          </a:ln>
        </p:spPr>
        <p:txBody>
          <a:bodyPr anchor="t">
            <a:normAutofit fontScale="88483"/>
          </a:bodyPr>
          <a:lstStyle/>
          <a:p>
            <a:pPr algn="l">
              <a:defRPr sz="2850" b="1">
                <a:solidFill>
                  <a:srgbClr val="102A43"/>
                </a:solidFill>
                <a:latin typeface="Arial"/>
                <a:ea typeface="Arial"/>
                <a:cs typeface="Arial"/>
              </a:defRPr>
            </a:pPr>
            <a:r>
              <a:rPr sz="2850" b="1">
                <a:solidFill>
                  <a:srgbClr val="102A43"/>
                </a:solidFill>
                <a:latin typeface="Arial"/>
                <a:ea typeface="Arial"/>
                <a:cs typeface="Arial"/>
              </a:rPr>
              <a:t>Codex is your collaborative partner for the work that follows</a:t>
            </a:r>
          </a:p>
        </p:txBody>
      </p:sp>
      <p:sp>
        <p:nvSpPr>
          <p:cNvPr id="3" name="Rectangle 2">
            <a:extLst>
              <a:ext uri="{FF2B5EF4-FFF2-40B4-BE49-F238E27FC236}">
                <a16:creationId xmlns:a16="http://schemas.microsoft.com/office/drawing/2014/main" id="{14984345-10EC-4A92-AE6E-9F1E09A0D01B}"/>
              </a:ext>
            </a:extLst>
          </p:cNvPr>
          <p:cNvSpPr>
            <a:spLocks noGrp="1"/>
          </p:cNvSpPr>
          <p:nvPr/>
        </p:nvSpPr>
        <p:spPr>
          <a:xfrm>
            <a:off x="685800" y="1285875"/>
            <a:ext cx="10820400" cy="28575"/>
          </a:xfrm>
          <a:prstGeom prst="rect">
            <a:avLst/>
          </a:prstGeom>
          <a:solidFill>
            <a:srgbClr val="FBBF24"/>
          </a:solidFill>
          <a:ln w="0">
            <a:noFill/>
            <a:prstDash val="solid"/>
          </a:ln>
        </p:spPr>
        <p:txBody>
          <a:bodyPr/>
          <a:lstStyle/>
          <a:p>
            <a:endParaRPr lang="en-US"/>
          </a:p>
        </p:txBody>
      </p:sp>
      <p:sp>
        <p:nvSpPr>
          <p:cNvPr id="4" name="Rectangle 3">
            <a:extLst>
              <a:ext uri="{FF2B5EF4-FFF2-40B4-BE49-F238E27FC236}">
                <a16:creationId xmlns:a16="http://schemas.microsoft.com/office/drawing/2014/main" id="{27E9691E-555B-4716-B8A9-1A9BBE7FEA14}"/>
              </a:ext>
            </a:extLst>
          </p:cNvPr>
          <p:cNvSpPr>
            <a:spLocks noGrp="1"/>
          </p:cNvSpPr>
          <p:nvPr/>
        </p:nvSpPr>
        <p:spPr>
          <a:xfrm>
            <a:off x="10839450" y="333375"/>
            <a:ext cx="666750" cy="228600"/>
          </a:xfrm>
          <a:prstGeom prst="rect">
            <a:avLst/>
          </a:prstGeom>
          <a:noFill/>
          <a:ln w="0">
            <a:noFill/>
            <a:prstDash val="solid"/>
          </a:ln>
        </p:spPr>
        <p:txBody>
          <a:bodyPr anchor="t">
            <a:normAutofit fontScale="93214" lnSpcReduction="10000"/>
          </a:bodyPr>
          <a:lstStyle/>
          <a:p>
            <a:pPr algn="r">
              <a:defRPr sz="1050" b="0">
                <a:solidFill>
                  <a:srgbClr val="52606D"/>
                </a:solidFill>
                <a:latin typeface="Arial"/>
                <a:ea typeface="Arial"/>
                <a:cs typeface="Arial"/>
              </a:defRPr>
            </a:pPr>
            <a:r>
              <a:rPr sz="1050" b="0">
                <a:solidFill>
                  <a:srgbClr val="52606D"/>
                </a:solidFill>
                <a:latin typeface="Arial"/>
                <a:ea typeface="Arial"/>
                <a:cs typeface="Arial"/>
              </a:rPr>
              <a:t>03</a:t>
            </a:r>
          </a:p>
        </p:txBody>
      </p:sp>
      <p:sp>
        <p:nvSpPr>
          <p:cNvPr id="5" name="Rectangle 4">
            <a:extLst>
              <a:ext uri="{FF2B5EF4-FFF2-40B4-BE49-F238E27FC236}">
                <a16:creationId xmlns:a16="http://schemas.microsoft.com/office/drawing/2014/main" id="{471CAC9D-EE96-459F-AE41-AB6F9C1B7573}"/>
              </a:ext>
            </a:extLst>
          </p:cNvPr>
          <p:cNvSpPr>
            <a:spLocks noGrp="1"/>
          </p:cNvSpPr>
          <p:nvPr/>
        </p:nvSpPr>
        <p:spPr>
          <a:xfrm>
            <a:off x="685800" y="1695450"/>
            <a:ext cx="7048500" cy="800100"/>
          </a:xfrm>
          <a:prstGeom prst="rect">
            <a:avLst/>
          </a:prstGeom>
          <a:noFill/>
          <a:ln w="0">
            <a:noFill/>
            <a:prstDash val="solid"/>
          </a:ln>
        </p:spPr>
        <p:txBody>
          <a:bodyPr anchor="t">
            <a:normAutofit fontScale="95535"/>
          </a:bodyPr>
          <a:lstStyle/>
          <a:p>
            <a:pPr algn="l">
              <a:defRPr sz="2025" b="0">
                <a:solidFill>
                  <a:srgbClr val="52606D"/>
                </a:solidFill>
                <a:latin typeface="Arial"/>
                <a:ea typeface="Arial"/>
                <a:cs typeface="Arial"/>
              </a:defRPr>
            </a:pPr>
            <a:r>
              <a:rPr sz="2025" b="0">
                <a:solidFill>
                  <a:srgbClr val="52606D"/>
                </a:solidFill>
                <a:latin typeface="Arial"/>
                <a:ea typeface="Arial"/>
                <a:cs typeface="Arial"/>
              </a:rPr>
              <a:t>Codex can help you turn your requirements into app changes—while you remain responsible for the decisions and review.</a:t>
            </a:r>
          </a:p>
        </p:txBody>
      </p:sp>
      <p:sp>
        <p:nvSpPr>
          <p:cNvPr id="6" name="Rounded Rectangle 5">
            <a:extLst>
              <a:ext uri="{FF2B5EF4-FFF2-40B4-BE49-F238E27FC236}">
                <a16:creationId xmlns:a16="http://schemas.microsoft.com/office/drawing/2014/main" id="{119F60C2-C2F5-40FE-9F35-8770049ABCDE}"/>
              </a:ext>
            </a:extLst>
          </p:cNvPr>
          <p:cNvSpPr>
            <a:spLocks noGrp="1"/>
          </p:cNvSpPr>
          <p:nvPr/>
        </p:nvSpPr>
        <p:spPr>
          <a:xfrm>
            <a:off x="8172450" y="1790700"/>
            <a:ext cx="2686050" cy="2686050"/>
          </a:xfrm>
          <a:prstGeom prst="roundRect">
            <a:avLst>
              <a:gd name="adj" fmla="val 2837"/>
            </a:avLst>
          </a:prstGeom>
          <a:solidFill>
            <a:srgbClr val="F4F7FA"/>
          </a:solidFill>
          <a:ln w="9525">
            <a:solidFill>
              <a:srgbClr val="CBD5E1"/>
            </a:solidFill>
            <a:prstDash val="solid"/>
          </a:ln>
        </p:spPr>
        <p:txBody>
          <a:bodyPr/>
          <a:lstStyle/>
          <a:p>
            <a:endParaRPr lang="en-US"/>
          </a:p>
        </p:txBody>
      </p:sp>
      <p:sp>
        <p:nvSpPr>
          <p:cNvPr id="7" name="Rectangle 6">
            <a:extLst>
              <a:ext uri="{FF2B5EF4-FFF2-40B4-BE49-F238E27FC236}">
                <a16:creationId xmlns:a16="http://schemas.microsoft.com/office/drawing/2014/main" id="{99D90400-4326-4CEF-AFB8-EAD8E95C89E8}"/>
              </a:ext>
            </a:extLst>
          </p:cNvPr>
          <p:cNvSpPr>
            <a:spLocks noGrp="1"/>
          </p:cNvSpPr>
          <p:nvPr/>
        </p:nvSpPr>
        <p:spPr>
          <a:xfrm>
            <a:off x="8553450" y="2381250"/>
            <a:ext cx="1905000" cy="400050"/>
          </a:xfrm>
          <a:prstGeom prst="rect">
            <a:avLst/>
          </a:prstGeom>
          <a:noFill/>
          <a:ln w="0">
            <a:noFill/>
            <a:prstDash val="solid"/>
          </a:ln>
        </p:spPr>
        <p:txBody>
          <a:bodyPr anchor="t">
            <a:normAutofit fontScale="86912" lnSpcReduction="10000"/>
          </a:bodyPr>
          <a:lstStyle/>
          <a:p>
            <a:pPr algn="ctr">
              <a:defRPr sz="2550" b="1">
                <a:solidFill>
                  <a:srgbClr val="003B66"/>
                </a:solidFill>
                <a:latin typeface="Arial"/>
                <a:ea typeface="Arial"/>
                <a:cs typeface="Arial"/>
              </a:defRPr>
            </a:pPr>
            <a:r>
              <a:rPr sz="2550" b="1">
                <a:solidFill>
                  <a:srgbClr val="003B66"/>
                </a:solidFill>
                <a:latin typeface="Arial"/>
                <a:ea typeface="Arial"/>
                <a:cs typeface="Arial"/>
              </a:rPr>
              <a:t>Codex</a:t>
            </a:r>
          </a:p>
        </p:txBody>
      </p:sp>
      <p:sp>
        <p:nvSpPr>
          <p:cNvPr id="8" name="Rectangle 7">
            <a:extLst>
              <a:ext uri="{FF2B5EF4-FFF2-40B4-BE49-F238E27FC236}">
                <a16:creationId xmlns:a16="http://schemas.microsoft.com/office/drawing/2014/main" id="{420A5CDE-98A1-4BDE-8B52-2552AA53AD69}"/>
              </a:ext>
            </a:extLst>
          </p:cNvPr>
          <p:cNvSpPr>
            <a:spLocks noGrp="1"/>
          </p:cNvSpPr>
          <p:nvPr/>
        </p:nvSpPr>
        <p:spPr>
          <a:xfrm>
            <a:off x="8763000" y="3067050"/>
            <a:ext cx="1524000" cy="1143000"/>
          </a:xfrm>
          <a:prstGeom prst="rect">
            <a:avLst/>
          </a:prstGeom>
          <a:noFill/>
          <a:ln w="0">
            <a:noFill/>
            <a:prstDash val="solid"/>
          </a:ln>
        </p:spPr>
        <p:txBody>
          <a:bodyPr anchor="t">
            <a:normAutofit/>
          </a:bodyPr>
          <a:lstStyle/>
          <a:p>
            <a:pPr algn="ctr">
              <a:defRPr sz="1725" b="0">
                <a:solidFill>
                  <a:srgbClr val="005A9C"/>
                </a:solidFill>
                <a:latin typeface="Arial"/>
                <a:ea typeface="Arial"/>
                <a:cs typeface="Arial"/>
              </a:defRPr>
            </a:pPr>
            <a:r>
              <a:rPr sz="1725" b="0">
                <a:solidFill>
                  <a:srgbClr val="005A9C"/>
                </a:solidFill>
                <a:latin typeface="Arial"/>
                <a:ea typeface="Arial"/>
                <a:cs typeface="Arial"/>
              </a:rPr>
              <a:t>Clarify</a:t>
            </a:r>
          </a:p>
          <a:p>
            <a:pPr algn="ctr">
              <a:defRPr sz="1725" b="0">
                <a:solidFill>
                  <a:srgbClr val="005A9C"/>
                </a:solidFill>
                <a:latin typeface="Arial"/>
                <a:ea typeface="Arial"/>
                <a:cs typeface="Arial"/>
              </a:defRPr>
            </a:pPr>
            <a:r>
              <a:rPr sz="1725" b="0">
                <a:solidFill>
                  <a:srgbClr val="005A9C"/>
                </a:solidFill>
                <a:latin typeface="Arial"/>
                <a:ea typeface="Arial"/>
                <a:cs typeface="Arial"/>
              </a:rPr>
              <a:t>Build</a:t>
            </a:r>
          </a:p>
          <a:p>
            <a:pPr algn="ctr">
              <a:defRPr sz="1725" b="0">
                <a:solidFill>
                  <a:srgbClr val="005A9C"/>
                </a:solidFill>
                <a:latin typeface="Arial"/>
                <a:ea typeface="Arial"/>
                <a:cs typeface="Arial"/>
              </a:defRPr>
            </a:pPr>
            <a:r>
              <a:rPr sz="1725" b="0">
                <a:solidFill>
                  <a:srgbClr val="005A9C"/>
                </a:solidFill>
                <a:latin typeface="Arial"/>
                <a:ea typeface="Arial"/>
                <a:cs typeface="Arial"/>
              </a:rPr>
              <a:t>Explain</a:t>
            </a:r>
          </a:p>
          <a:p>
            <a:pPr algn="ctr">
              <a:defRPr sz="1725" b="0">
                <a:solidFill>
                  <a:srgbClr val="005A9C"/>
                </a:solidFill>
                <a:latin typeface="Arial"/>
                <a:ea typeface="Arial"/>
                <a:cs typeface="Arial"/>
              </a:defRPr>
            </a:pPr>
            <a:r>
              <a:rPr sz="1725" b="0">
                <a:solidFill>
                  <a:srgbClr val="005A9C"/>
                </a:solidFill>
                <a:latin typeface="Arial"/>
                <a:ea typeface="Arial"/>
                <a:cs typeface="Arial"/>
              </a:rPr>
              <a:t>Improve</a:t>
            </a:r>
          </a:p>
        </p:txBody>
      </p:sp>
      <p:sp>
        <p:nvSpPr>
          <p:cNvPr id="9" name="Oval 8">
            <a:extLst>
              <a:ext uri="{FF2B5EF4-FFF2-40B4-BE49-F238E27FC236}">
                <a16:creationId xmlns:a16="http://schemas.microsoft.com/office/drawing/2014/main" id="{7411CDD4-2CF0-4320-9226-ABB0C824F0ED}"/>
              </a:ext>
            </a:extLst>
          </p:cNvPr>
          <p:cNvSpPr>
            <a:spLocks noGrp="1"/>
          </p:cNvSpPr>
          <p:nvPr/>
        </p:nvSpPr>
        <p:spPr>
          <a:xfrm>
            <a:off x="762000" y="3095625"/>
            <a:ext cx="114300" cy="114300"/>
          </a:xfrm>
          <a:prstGeom prst="ellipse">
            <a:avLst/>
          </a:prstGeom>
          <a:solidFill>
            <a:srgbClr val="FBBF24"/>
          </a:solidFill>
          <a:ln w="0">
            <a:noFill/>
            <a:prstDash val="solid"/>
          </a:ln>
        </p:spPr>
        <p:txBody>
          <a:bodyPr/>
          <a:lstStyle/>
          <a:p>
            <a:endParaRPr lang="en-US"/>
          </a:p>
        </p:txBody>
      </p:sp>
      <p:sp>
        <p:nvSpPr>
          <p:cNvPr id="10" name="Rectangle 9">
            <a:extLst>
              <a:ext uri="{FF2B5EF4-FFF2-40B4-BE49-F238E27FC236}">
                <a16:creationId xmlns:a16="http://schemas.microsoft.com/office/drawing/2014/main" id="{E223E447-AD04-4A63-94A8-03DD0CAF13EF}"/>
              </a:ext>
            </a:extLst>
          </p:cNvPr>
          <p:cNvSpPr>
            <a:spLocks noGrp="1"/>
          </p:cNvSpPr>
          <p:nvPr/>
        </p:nvSpPr>
        <p:spPr>
          <a:xfrm>
            <a:off x="1028700" y="3000375"/>
            <a:ext cx="6210300" cy="647700"/>
          </a:xfrm>
          <a:prstGeom prst="rect">
            <a:avLst/>
          </a:prstGeom>
          <a:noFill/>
          <a:ln w="0">
            <a:noFill/>
            <a:prstDash val="solid"/>
          </a:ln>
        </p:spPr>
        <p:txBody>
          <a:bodyPr anchor="t">
            <a:normAutofit/>
          </a:bodyPr>
          <a:lstStyle/>
          <a:p>
            <a:pPr algn="l">
              <a:defRPr sz="1575" b="0">
                <a:solidFill>
                  <a:srgbClr val="102A43"/>
                </a:solidFill>
                <a:latin typeface="Arial"/>
                <a:ea typeface="Arial"/>
                <a:cs typeface="Arial"/>
              </a:defRPr>
            </a:pPr>
            <a:r>
              <a:rPr sz="1575" b="0">
                <a:solidFill>
                  <a:srgbClr val="102A43"/>
                </a:solidFill>
                <a:latin typeface="Arial"/>
                <a:ea typeface="Arial"/>
                <a:cs typeface="Arial"/>
              </a:rPr>
              <a:t>Describe the app’s goal, users, and rules in plain language.</a:t>
            </a:r>
          </a:p>
        </p:txBody>
      </p:sp>
      <p:sp>
        <p:nvSpPr>
          <p:cNvPr id="11" name="Oval 10">
            <a:extLst>
              <a:ext uri="{FF2B5EF4-FFF2-40B4-BE49-F238E27FC236}">
                <a16:creationId xmlns:a16="http://schemas.microsoft.com/office/drawing/2014/main" id="{90DD6F91-BF90-4B24-A938-A3F90213E4AE}"/>
              </a:ext>
            </a:extLst>
          </p:cNvPr>
          <p:cNvSpPr>
            <a:spLocks noGrp="1"/>
          </p:cNvSpPr>
          <p:nvPr/>
        </p:nvSpPr>
        <p:spPr>
          <a:xfrm>
            <a:off x="762000" y="3790950"/>
            <a:ext cx="114300" cy="114300"/>
          </a:xfrm>
          <a:prstGeom prst="ellipse">
            <a:avLst/>
          </a:prstGeom>
          <a:solidFill>
            <a:srgbClr val="FBBF24"/>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DFE0ED25-16C0-48AB-870C-47D11256EF32}"/>
              </a:ext>
            </a:extLst>
          </p:cNvPr>
          <p:cNvSpPr>
            <a:spLocks noGrp="1"/>
          </p:cNvSpPr>
          <p:nvPr/>
        </p:nvSpPr>
        <p:spPr>
          <a:xfrm>
            <a:off x="1028700" y="3695700"/>
            <a:ext cx="6210300" cy="647700"/>
          </a:xfrm>
          <a:prstGeom prst="rect">
            <a:avLst/>
          </a:prstGeom>
          <a:noFill/>
          <a:ln w="0">
            <a:noFill/>
            <a:prstDash val="solid"/>
          </a:ln>
        </p:spPr>
        <p:txBody>
          <a:bodyPr anchor="t">
            <a:normAutofit/>
          </a:bodyPr>
          <a:lstStyle/>
          <a:p>
            <a:pPr algn="l">
              <a:defRPr sz="1575" b="0">
                <a:solidFill>
                  <a:srgbClr val="102A43"/>
                </a:solidFill>
                <a:latin typeface="Arial"/>
                <a:ea typeface="Arial"/>
                <a:cs typeface="Arial"/>
              </a:defRPr>
            </a:pPr>
            <a:r>
              <a:rPr sz="1575" b="0">
                <a:solidFill>
                  <a:srgbClr val="102A43"/>
                </a:solidFill>
                <a:latin typeface="Arial"/>
                <a:ea typeface="Arial"/>
                <a:cs typeface="Arial"/>
              </a:rPr>
              <a:t>Ask Codex to make and explain changes in the managed repository.</a:t>
            </a:r>
          </a:p>
        </p:txBody>
      </p:sp>
      <p:sp>
        <p:nvSpPr>
          <p:cNvPr id="13" name="Oval 12">
            <a:extLst>
              <a:ext uri="{FF2B5EF4-FFF2-40B4-BE49-F238E27FC236}">
                <a16:creationId xmlns:a16="http://schemas.microsoft.com/office/drawing/2014/main" id="{95F45782-BDB4-4832-AC31-9449C6AB1BC7}"/>
              </a:ext>
            </a:extLst>
          </p:cNvPr>
          <p:cNvSpPr>
            <a:spLocks noGrp="1"/>
          </p:cNvSpPr>
          <p:nvPr/>
        </p:nvSpPr>
        <p:spPr>
          <a:xfrm>
            <a:off x="762000" y="4486275"/>
            <a:ext cx="114300" cy="114300"/>
          </a:xfrm>
          <a:prstGeom prst="ellipse">
            <a:avLst/>
          </a:prstGeom>
          <a:solidFill>
            <a:srgbClr val="FBBF24"/>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9A6FCD93-3840-4768-8BA5-1C17C54D1346}"/>
              </a:ext>
            </a:extLst>
          </p:cNvPr>
          <p:cNvSpPr>
            <a:spLocks noGrp="1"/>
          </p:cNvSpPr>
          <p:nvPr/>
        </p:nvSpPr>
        <p:spPr>
          <a:xfrm>
            <a:off x="1028700" y="4391025"/>
            <a:ext cx="6210300" cy="647700"/>
          </a:xfrm>
          <a:prstGeom prst="rect">
            <a:avLst/>
          </a:prstGeom>
          <a:noFill/>
          <a:ln w="0">
            <a:noFill/>
            <a:prstDash val="solid"/>
          </a:ln>
        </p:spPr>
        <p:txBody>
          <a:bodyPr anchor="t">
            <a:normAutofit/>
          </a:bodyPr>
          <a:lstStyle/>
          <a:p>
            <a:pPr algn="l">
              <a:defRPr sz="1575" b="0">
                <a:solidFill>
                  <a:srgbClr val="102A43"/>
                </a:solidFill>
                <a:latin typeface="Arial"/>
                <a:ea typeface="Arial"/>
                <a:cs typeface="Arial"/>
              </a:defRPr>
            </a:pPr>
            <a:r>
              <a:rPr sz="1575" b="0">
                <a:solidFill>
                  <a:srgbClr val="102A43"/>
                </a:solidFill>
                <a:latin typeface="Arial"/>
                <a:ea typeface="Arial"/>
                <a:cs typeface="Arial"/>
              </a:rPr>
              <a:t>Review the result, test the important task, then publish the version you trust.</a:t>
            </a:r>
          </a:p>
        </p:txBody>
      </p:sp>
      <p:sp>
        <p:nvSpPr>
          <p:cNvPr id="15" name="Rectangle 14">
            <a:extLst>
              <a:ext uri="{FF2B5EF4-FFF2-40B4-BE49-F238E27FC236}">
                <a16:creationId xmlns:a16="http://schemas.microsoft.com/office/drawing/2014/main" id="{B01F6738-33CE-4DBA-B3B5-A752E6B462D7}"/>
              </a:ext>
            </a:extLst>
          </p:cNvPr>
          <p:cNvSpPr>
            <a:spLocks noGrp="1"/>
          </p:cNvSpPr>
          <p:nvPr/>
        </p:nvSpPr>
        <p:spPr>
          <a:xfrm>
            <a:off x="0" y="6705600"/>
            <a:ext cx="12192000" cy="152400"/>
          </a:xfrm>
          <a:prstGeom prst="rect">
            <a:avLst/>
          </a:prstGeom>
          <a:solidFill>
            <a:srgbClr val="003B66"/>
          </a:solidFill>
          <a:ln w="0">
            <a:noFill/>
            <a:prstDash val="solid"/>
          </a:ln>
        </p:spPr>
        <p:txBody>
          <a:bodyPr/>
          <a:lstStyle/>
          <a:p>
            <a:endParaRPr lang="en-US"/>
          </a:p>
        </p:txBody>
      </p:sp>
    </p:spTree>
    <p:extLst>
      <p:ext uri="{BB962C8B-B14F-4D97-AF65-F5344CB8AC3E}">
        <p14:creationId xmlns:p14="http://schemas.microsoft.com/office/powerpoint/2010/main" val="2021099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4958144-F3B6-4AE1-B56B-692596B37824}"/>
              </a:ext>
            </a:extLst>
          </p:cNvPr>
          <p:cNvSpPr>
            <a:spLocks noGrp="1"/>
          </p:cNvSpPr>
          <p:nvPr/>
        </p:nvSpPr>
        <p:spPr>
          <a:xfrm>
            <a:off x="685800" y="304800"/>
            <a:ext cx="5715000" cy="209550"/>
          </a:xfrm>
          <a:prstGeom prst="rect">
            <a:avLst/>
          </a:prstGeom>
          <a:noFill/>
          <a:ln w="0">
            <a:noFill/>
            <a:prstDash val="solid"/>
          </a:ln>
        </p:spPr>
        <p:txBody>
          <a:bodyPr anchor="t">
            <a:normAutofit fontScale="86111" lnSpcReduction="10000"/>
          </a:bodyPr>
          <a:lstStyle/>
          <a:p>
            <a:pPr algn="l">
              <a:defRPr sz="900" b="1">
                <a:solidFill>
                  <a:srgbClr val="005A9C"/>
                </a:solidFill>
                <a:latin typeface="Arial"/>
                <a:ea typeface="Arial"/>
                <a:cs typeface="Arial"/>
              </a:defRPr>
            </a:pPr>
            <a:r>
              <a:rPr sz="900" b="1">
                <a:solidFill>
                  <a:srgbClr val="005A9C"/>
                </a:solidFill>
                <a:latin typeface="Arial"/>
                <a:ea typeface="Arial"/>
                <a:cs typeface="Arial"/>
              </a:rPr>
              <a:t>CEDARVILLE APP PORTAL</a:t>
            </a:r>
          </a:p>
        </p:txBody>
      </p:sp>
      <p:sp>
        <p:nvSpPr>
          <p:cNvPr id="2" name="Rectangle 1">
            <a:extLst>
              <a:ext uri="{FF2B5EF4-FFF2-40B4-BE49-F238E27FC236}">
                <a16:creationId xmlns:a16="http://schemas.microsoft.com/office/drawing/2014/main" id="{A6DFBEC0-1FD7-43C6-9415-AD7DD6A52B45}"/>
              </a:ext>
            </a:extLst>
          </p:cNvPr>
          <p:cNvSpPr>
            <a:spLocks noGrp="1"/>
          </p:cNvSpPr>
          <p:nvPr/>
        </p:nvSpPr>
        <p:spPr>
          <a:xfrm>
            <a:off x="685800" y="647700"/>
            <a:ext cx="9334500" cy="523875"/>
          </a:xfrm>
          <a:prstGeom prst="rect">
            <a:avLst/>
          </a:prstGeom>
          <a:noFill/>
          <a:ln w="0">
            <a:noFill/>
            <a:prstDash val="solid"/>
          </a:ln>
        </p:spPr>
        <p:txBody>
          <a:bodyPr anchor="t">
            <a:normAutofit fontScale="99561"/>
          </a:bodyPr>
          <a:lstStyle/>
          <a:p>
            <a:pPr algn="l">
              <a:defRPr sz="2850" b="1">
                <a:solidFill>
                  <a:srgbClr val="102A43"/>
                </a:solidFill>
                <a:latin typeface="Arial"/>
                <a:ea typeface="Arial"/>
                <a:cs typeface="Arial"/>
              </a:defRPr>
            </a:pPr>
            <a:r>
              <a:rPr sz="2850" b="1" dirty="0">
                <a:solidFill>
                  <a:srgbClr val="102A43"/>
                </a:solidFill>
                <a:latin typeface="Arial"/>
                <a:ea typeface="Arial"/>
                <a:cs typeface="Arial"/>
              </a:rPr>
              <a:t>Start with the portal’s guided lifecycle</a:t>
            </a:r>
          </a:p>
        </p:txBody>
      </p:sp>
      <p:sp>
        <p:nvSpPr>
          <p:cNvPr id="3" name="Rectangle 2">
            <a:extLst>
              <a:ext uri="{FF2B5EF4-FFF2-40B4-BE49-F238E27FC236}">
                <a16:creationId xmlns:a16="http://schemas.microsoft.com/office/drawing/2014/main" id="{043E87AC-4D94-4FFF-9B0C-37D48CC25EA7}"/>
              </a:ext>
            </a:extLst>
          </p:cNvPr>
          <p:cNvSpPr>
            <a:spLocks noGrp="1"/>
          </p:cNvSpPr>
          <p:nvPr/>
        </p:nvSpPr>
        <p:spPr>
          <a:xfrm>
            <a:off x="685800" y="1285875"/>
            <a:ext cx="10820400" cy="28575"/>
          </a:xfrm>
          <a:prstGeom prst="rect">
            <a:avLst/>
          </a:prstGeom>
          <a:solidFill>
            <a:srgbClr val="FBBF24"/>
          </a:solidFill>
          <a:ln w="0">
            <a:noFill/>
            <a:prstDash val="solid"/>
          </a:ln>
        </p:spPr>
        <p:txBody>
          <a:bodyPr/>
          <a:lstStyle/>
          <a:p>
            <a:endParaRPr lang="en-US"/>
          </a:p>
        </p:txBody>
      </p:sp>
      <p:sp>
        <p:nvSpPr>
          <p:cNvPr id="4" name="Rectangle 3">
            <a:extLst>
              <a:ext uri="{FF2B5EF4-FFF2-40B4-BE49-F238E27FC236}">
                <a16:creationId xmlns:a16="http://schemas.microsoft.com/office/drawing/2014/main" id="{EA584D8D-A7B0-402E-9538-85873331CF2D}"/>
              </a:ext>
            </a:extLst>
          </p:cNvPr>
          <p:cNvSpPr>
            <a:spLocks noGrp="1"/>
          </p:cNvSpPr>
          <p:nvPr/>
        </p:nvSpPr>
        <p:spPr>
          <a:xfrm>
            <a:off x="10839450" y="333375"/>
            <a:ext cx="666750" cy="228600"/>
          </a:xfrm>
          <a:prstGeom prst="rect">
            <a:avLst/>
          </a:prstGeom>
          <a:noFill/>
          <a:ln w="0">
            <a:noFill/>
            <a:prstDash val="solid"/>
          </a:ln>
        </p:spPr>
        <p:txBody>
          <a:bodyPr anchor="t">
            <a:normAutofit fontScale="93214" lnSpcReduction="10000"/>
          </a:bodyPr>
          <a:lstStyle/>
          <a:p>
            <a:pPr algn="r">
              <a:defRPr sz="1050" b="0">
                <a:solidFill>
                  <a:srgbClr val="52606D"/>
                </a:solidFill>
                <a:latin typeface="Arial"/>
                <a:ea typeface="Arial"/>
                <a:cs typeface="Arial"/>
              </a:defRPr>
            </a:pPr>
            <a:r>
              <a:rPr sz="1050" b="0">
                <a:solidFill>
                  <a:srgbClr val="52606D"/>
                </a:solidFill>
                <a:latin typeface="Arial"/>
                <a:ea typeface="Arial"/>
                <a:cs typeface="Arial"/>
              </a:rPr>
              <a:t>04</a:t>
            </a:r>
          </a:p>
        </p:txBody>
      </p:sp>
      <p:sp>
        <p:nvSpPr>
          <p:cNvPr id="5" name="Rectangle 4">
            <a:extLst>
              <a:ext uri="{FF2B5EF4-FFF2-40B4-BE49-F238E27FC236}">
                <a16:creationId xmlns:a16="http://schemas.microsoft.com/office/drawing/2014/main" id="{4C12DE1E-A325-47E7-8257-14B90CD8521B}"/>
              </a:ext>
            </a:extLst>
          </p:cNvPr>
          <p:cNvSpPr>
            <a:spLocks noGrp="1"/>
          </p:cNvSpPr>
          <p:nvPr/>
        </p:nvSpPr>
        <p:spPr>
          <a:xfrm>
            <a:off x="685800" y="2333625"/>
            <a:ext cx="2381250" cy="2333625"/>
          </a:xfrm>
          <a:prstGeom prst="rect">
            <a:avLst/>
          </a:prstGeom>
          <a:solidFill>
            <a:srgbClr val="E8F4FB"/>
          </a:solidFill>
          <a:ln w="9525">
            <a:solidFill>
              <a:srgbClr val="CBD5E1"/>
            </a:solidFill>
            <a:prstDash val="solid"/>
          </a:ln>
        </p:spPr>
        <p:txBody>
          <a:bodyPr/>
          <a:lstStyle/>
          <a:p>
            <a:endParaRPr lang="en-US"/>
          </a:p>
        </p:txBody>
      </p:sp>
      <p:sp>
        <p:nvSpPr>
          <p:cNvPr id="6" name="Rectangle 5">
            <a:extLst>
              <a:ext uri="{FF2B5EF4-FFF2-40B4-BE49-F238E27FC236}">
                <a16:creationId xmlns:a16="http://schemas.microsoft.com/office/drawing/2014/main" id="{F184F8C9-7672-41B3-9132-21D6F4ADD216}"/>
              </a:ext>
            </a:extLst>
          </p:cNvPr>
          <p:cNvSpPr>
            <a:spLocks noGrp="1"/>
          </p:cNvSpPr>
          <p:nvPr/>
        </p:nvSpPr>
        <p:spPr>
          <a:xfrm>
            <a:off x="895350" y="2524125"/>
            <a:ext cx="428625" cy="381000"/>
          </a:xfrm>
          <a:prstGeom prst="rect">
            <a:avLst/>
          </a:prstGeom>
          <a:noFill/>
          <a:ln w="0">
            <a:noFill/>
            <a:prstDash val="solid"/>
          </a:ln>
        </p:spPr>
        <p:txBody>
          <a:bodyPr anchor="t">
            <a:normAutofit fontScale="91944" lnSpcReduction="10000"/>
          </a:bodyPr>
          <a:lstStyle/>
          <a:p>
            <a:pPr algn="l">
              <a:defRPr sz="2250" b="1">
                <a:solidFill>
                  <a:srgbClr val="005A9C"/>
                </a:solidFill>
                <a:latin typeface="Arial"/>
                <a:ea typeface="Arial"/>
                <a:cs typeface="Arial"/>
              </a:defRPr>
            </a:pPr>
            <a:r>
              <a:rPr sz="2250" b="1">
                <a:solidFill>
                  <a:srgbClr val="005A9C"/>
                </a:solidFill>
                <a:latin typeface="Arial"/>
                <a:ea typeface="Arial"/>
                <a:cs typeface="Arial"/>
              </a:rPr>
              <a:t>1</a:t>
            </a:r>
          </a:p>
        </p:txBody>
      </p:sp>
      <p:sp>
        <p:nvSpPr>
          <p:cNvPr id="7" name="Rectangle 6">
            <a:extLst>
              <a:ext uri="{FF2B5EF4-FFF2-40B4-BE49-F238E27FC236}">
                <a16:creationId xmlns:a16="http://schemas.microsoft.com/office/drawing/2014/main" id="{AB8E9D17-CCB7-4A34-8A91-AB105437D8DE}"/>
              </a:ext>
            </a:extLst>
          </p:cNvPr>
          <p:cNvSpPr>
            <a:spLocks noGrp="1"/>
          </p:cNvSpPr>
          <p:nvPr/>
        </p:nvSpPr>
        <p:spPr>
          <a:xfrm>
            <a:off x="895350" y="3048000"/>
            <a:ext cx="2000250" cy="523875"/>
          </a:xfrm>
          <a:prstGeom prst="rect">
            <a:avLst/>
          </a:prstGeom>
          <a:noFill/>
          <a:ln w="0">
            <a:noFill/>
            <a:prstDash val="solid"/>
          </a:ln>
        </p:spPr>
        <p:txBody>
          <a:bodyPr anchor="t">
            <a:normAutofit/>
          </a:bodyPr>
          <a:lstStyle/>
          <a:p>
            <a:pPr algn="l">
              <a:defRPr sz="1875" b="1">
                <a:solidFill>
                  <a:srgbClr val="003B66"/>
                </a:solidFill>
                <a:latin typeface="Arial"/>
                <a:ea typeface="Arial"/>
                <a:cs typeface="Arial"/>
              </a:defRPr>
            </a:pPr>
            <a:r>
              <a:rPr sz="1875" b="1">
                <a:solidFill>
                  <a:srgbClr val="003B66"/>
                </a:solidFill>
                <a:latin typeface="Arial"/>
                <a:ea typeface="Arial"/>
                <a:cs typeface="Arial"/>
              </a:rPr>
              <a:t>Create or add</a:t>
            </a:r>
          </a:p>
        </p:txBody>
      </p:sp>
      <p:sp>
        <p:nvSpPr>
          <p:cNvPr id="8" name="Rectangle 7">
            <a:extLst>
              <a:ext uri="{FF2B5EF4-FFF2-40B4-BE49-F238E27FC236}">
                <a16:creationId xmlns:a16="http://schemas.microsoft.com/office/drawing/2014/main" id="{909BB94D-2014-4AFB-A095-27B8FA16804C}"/>
              </a:ext>
            </a:extLst>
          </p:cNvPr>
          <p:cNvSpPr>
            <a:spLocks noGrp="1"/>
          </p:cNvSpPr>
          <p:nvPr/>
        </p:nvSpPr>
        <p:spPr>
          <a:xfrm>
            <a:off x="895350" y="3714750"/>
            <a:ext cx="1943100" cy="781050"/>
          </a:xfrm>
          <a:prstGeom prst="rect">
            <a:avLst/>
          </a:prstGeom>
          <a:noFill/>
          <a:ln w="0">
            <a:noFill/>
            <a:prstDash val="solid"/>
          </a:ln>
        </p:spPr>
        <p:txBody>
          <a:bodyPr anchor="t">
            <a:normAutofit/>
          </a:bodyPr>
          <a:lstStyle/>
          <a:p>
            <a:pPr algn="l">
              <a:defRPr sz="1275" b="0">
                <a:solidFill>
                  <a:srgbClr val="52606D"/>
                </a:solidFill>
                <a:latin typeface="Arial"/>
                <a:ea typeface="Arial"/>
                <a:cs typeface="Arial"/>
              </a:defRPr>
            </a:pPr>
            <a:r>
              <a:rPr sz="1275" b="0">
                <a:solidFill>
                  <a:srgbClr val="52606D"/>
                </a:solidFill>
                <a:latin typeface="Arial"/>
                <a:ea typeface="Arial"/>
                <a:cs typeface="Arial"/>
              </a:rPr>
              <a:t>Choose a template, import code, or connect a local project.</a:t>
            </a:r>
          </a:p>
        </p:txBody>
      </p:sp>
      <p:sp>
        <p:nvSpPr>
          <p:cNvPr id="9" name="Rectangle 8">
            <a:extLst>
              <a:ext uri="{FF2B5EF4-FFF2-40B4-BE49-F238E27FC236}">
                <a16:creationId xmlns:a16="http://schemas.microsoft.com/office/drawing/2014/main" id="{3591B768-EA2F-4BEE-9024-4F724C49EB20}"/>
              </a:ext>
            </a:extLst>
          </p:cNvPr>
          <p:cNvSpPr>
            <a:spLocks noGrp="1"/>
          </p:cNvSpPr>
          <p:nvPr/>
        </p:nvSpPr>
        <p:spPr>
          <a:xfrm>
            <a:off x="3400425" y="2333625"/>
            <a:ext cx="2381250" cy="2333625"/>
          </a:xfrm>
          <a:prstGeom prst="rect">
            <a:avLst/>
          </a:prstGeom>
          <a:solidFill>
            <a:srgbClr val="F4F7FA"/>
          </a:solidFill>
          <a:ln w="9525">
            <a:solidFill>
              <a:srgbClr val="CBD5E1"/>
            </a:solidFill>
            <a:prstDash val="solid"/>
          </a:ln>
        </p:spPr>
        <p:txBody>
          <a:bodyPr/>
          <a:lstStyle/>
          <a:p>
            <a:endParaRPr lang="en-US"/>
          </a:p>
        </p:txBody>
      </p:sp>
      <p:sp>
        <p:nvSpPr>
          <p:cNvPr id="10" name="Rectangle 9">
            <a:extLst>
              <a:ext uri="{FF2B5EF4-FFF2-40B4-BE49-F238E27FC236}">
                <a16:creationId xmlns:a16="http://schemas.microsoft.com/office/drawing/2014/main" id="{81E69F21-3E69-45A3-B8A6-0EDAA61AA060}"/>
              </a:ext>
            </a:extLst>
          </p:cNvPr>
          <p:cNvSpPr>
            <a:spLocks noGrp="1"/>
          </p:cNvSpPr>
          <p:nvPr/>
        </p:nvSpPr>
        <p:spPr>
          <a:xfrm>
            <a:off x="3609975" y="2524125"/>
            <a:ext cx="428625" cy="381000"/>
          </a:xfrm>
          <a:prstGeom prst="rect">
            <a:avLst/>
          </a:prstGeom>
          <a:noFill/>
          <a:ln w="0">
            <a:noFill/>
            <a:prstDash val="solid"/>
          </a:ln>
        </p:spPr>
        <p:txBody>
          <a:bodyPr anchor="t">
            <a:normAutofit fontScale="91944" lnSpcReduction="10000"/>
          </a:bodyPr>
          <a:lstStyle/>
          <a:p>
            <a:pPr algn="l">
              <a:defRPr sz="2250" b="1">
                <a:solidFill>
                  <a:srgbClr val="005A9C"/>
                </a:solidFill>
                <a:latin typeface="Arial"/>
                <a:ea typeface="Arial"/>
                <a:cs typeface="Arial"/>
              </a:defRPr>
            </a:pPr>
            <a:r>
              <a:rPr sz="2250" b="1">
                <a:solidFill>
                  <a:srgbClr val="005A9C"/>
                </a:solidFill>
                <a:latin typeface="Arial"/>
                <a:ea typeface="Arial"/>
                <a:cs typeface="Arial"/>
              </a:rPr>
              <a:t>2</a:t>
            </a:r>
          </a:p>
        </p:txBody>
      </p:sp>
      <p:sp>
        <p:nvSpPr>
          <p:cNvPr id="11" name="Rectangle 10">
            <a:extLst>
              <a:ext uri="{FF2B5EF4-FFF2-40B4-BE49-F238E27FC236}">
                <a16:creationId xmlns:a16="http://schemas.microsoft.com/office/drawing/2014/main" id="{BC25BFB2-C923-41CD-8FEE-83CCAEFF36E3}"/>
              </a:ext>
            </a:extLst>
          </p:cNvPr>
          <p:cNvSpPr>
            <a:spLocks noGrp="1"/>
          </p:cNvSpPr>
          <p:nvPr/>
        </p:nvSpPr>
        <p:spPr>
          <a:xfrm>
            <a:off x="3609975" y="3048000"/>
            <a:ext cx="2000250" cy="523875"/>
          </a:xfrm>
          <a:prstGeom prst="rect">
            <a:avLst/>
          </a:prstGeom>
          <a:noFill/>
          <a:ln w="0">
            <a:noFill/>
            <a:prstDash val="solid"/>
          </a:ln>
        </p:spPr>
        <p:txBody>
          <a:bodyPr anchor="t">
            <a:normAutofit/>
          </a:bodyPr>
          <a:lstStyle/>
          <a:p>
            <a:pPr algn="l">
              <a:defRPr sz="1875" b="1">
                <a:solidFill>
                  <a:srgbClr val="003B66"/>
                </a:solidFill>
                <a:latin typeface="Arial"/>
                <a:ea typeface="Arial"/>
                <a:cs typeface="Arial"/>
              </a:defRPr>
            </a:pPr>
            <a:r>
              <a:rPr sz="1875" b="1">
                <a:solidFill>
                  <a:srgbClr val="003B66"/>
                </a:solidFill>
                <a:latin typeface="Arial"/>
                <a:ea typeface="Arial"/>
                <a:cs typeface="Arial"/>
              </a:rPr>
              <a:t>Customize</a:t>
            </a:r>
          </a:p>
        </p:txBody>
      </p:sp>
      <p:sp>
        <p:nvSpPr>
          <p:cNvPr id="12" name="Rectangle 11">
            <a:extLst>
              <a:ext uri="{FF2B5EF4-FFF2-40B4-BE49-F238E27FC236}">
                <a16:creationId xmlns:a16="http://schemas.microsoft.com/office/drawing/2014/main" id="{304E25B3-AEAE-4192-90E7-D8DAB38CA052}"/>
              </a:ext>
            </a:extLst>
          </p:cNvPr>
          <p:cNvSpPr>
            <a:spLocks noGrp="1"/>
          </p:cNvSpPr>
          <p:nvPr/>
        </p:nvSpPr>
        <p:spPr>
          <a:xfrm>
            <a:off x="3609975" y="3714750"/>
            <a:ext cx="1943100" cy="781050"/>
          </a:xfrm>
          <a:prstGeom prst="rect">
            <a:avLst/>
          </a:prstGeom>
          <a:noFill/>
          <a:ln w="0">
            <a:noFill/>
            <a:prstDash val="solid"/>
          </a:ln>
        </p:spPr>
        <p:txBody>
          <a:bodyPr anchor="t">
            <a:normAutofit fontScale="94268" lnSpcReduction="10000"/>
          </a:bodyPr>
          <a:lstStyle/>
          <a:p>
            <a:pPr algn="l">
              <a:defRPr sz="1275" b="0">
                <a:solidFill>
                  <a:srgbClr val="52606D"/>
                </a:solidFill>
                <a:latin typeface="Arial"/>
                <a:ea typeface="Arial"/>
                <a:cs typeface="Arial"/>
              </a:defRPr>
            </a:pPr>
            <a:r>
              <a:rPr sz="1275" b="0" dirty="0">
                <a:solidFill>
                  <a:srgbClr val="52606D"/>
                </a:solidFill>
                <a:latin typeface="Arial"/>
                <a:ea typeface="Arial"/>
                <a:cs typeface="Arial"/>
              </a:rPr>
              <a:t>Work with Codex </a:t>
            </a:r>
            <a:r>
              <a:rPr lang="en-US" sz="1275" b="0" dirty="0">
                <a:solidFill>
                  <a:srgbClr val="52606D"/>
                </a:solidFill>
                <a:latin typeface="Arial"/>
                <a:ea typeface="Arial"/>
                <a:cs typeface="Arial"/>
              </a:rPr>
              <a:t>and</a:t>
            </a:r>
            <a:r>
              <a:rPr sz="1275" b="0" dirty="0">
                <a:solidFill>
                  <a:srgbClr val="52606D"/>
                </a:solidFill>
                <a:latin typeface="Arial"/>
                <a:ea typeface="Arial"/>
                <a:cs typeface="Arial"/>
              </a:rPr>
              <a:t> </a:t>
            </a:r>
            <a:r>
              <a:rPr lang="en-US" sz="1275" b="0" dirty="0">
                <a:solidFill>
                  <a:srgbClr val="52606D"/>
                </a:solidFill>
                <a:latin typeface="Arial"/>
                <a:ea typeface="Arial"/>
                <a:cs typeface="Arial"/>
              </a:rPr>
              <a:t>other</a:t>
            </a:r>
            <a:r>
              <a:rPr sz="1275" b="0" dirty="0">
                <a:solidFill>
                  <a:srgbClr val="52606D"/>
                </a:solidFill>
                <a:latin typeface="Arial"/>
                <a:ea typeface="Arial"/>
                <a:cs typeface="Arial"/>
              </a:rPr>
              <a:t> developer</a:t>
            </a:r>
            <a:r>
              <a:rPr lang="en-US" sz="1275" b="0" dirty="0">
                <a:solidFill>
                  <a:srgbClr val="52606D"/>
                </a:solidFill>
                <a:latin typeface="Arial"/>
                <a:ea typeface="Arial"/>
                <a:cs typeface="Arial"/>
              </a:rPr>
              <a:t>s</a:t>
            </a:r>
            <a:r>
              <a:rPr sz="1275" b="0" dirty="0">
                <a:solidFill>
                  <a:srgbClr val="52606D"/>
                </a:solidFill>
                <a:latin typeface="Arial"/>
                <a:ea typeface="Arial"/>
                <a:cs typeface="Arial"/>
              </a:rPr>
              <a:t> in the managed GitHub repository.</a:t>
            </a:r>
          </a:p>
        </p:txBody>
      </p:sp>
      <p:sp>
        <p:nvSpPr>
          <p:cNvPr id="13" name="Rectangle 12">
            <a:extLst>
              <a:ext uri="{FF2B5EF4-FFF2-40B4-BE49-F238E27FC236}">
                <a16:creationId xmlns:a16="http://schemas.microsoft.com/office/drawing/2014/main" id="{EED826C2-7760-48E5-8A89-D8E685E2C2A6}"/>
              </a:ext>
            </a:extLst>
          </p:cNvPr>
          <p:cNvSpPr>
            <a:spLocks noGrp="1"/>
          </p:cNvSpPr>
          <p:nvPr/>
        </p:nvSpPr>
        <p:spPr>
          <a:xfrm>
            <a:off x="6115050" y="2333625"/>
            <a:ext cx="2381250" cy="2333625"/>
          </a:xfrm>
          <a:prstGeom prst="rect">
            <a:avLst/>
          </a:prstGeom>
          <a:solidFill>
            <a:srgbClr val="F4F7FA"/>
          </a:solidFill>
          <a:ln w="9525">
            <a:solidFill>
              <a:srgbClr val="CBD5E1"/>
            </a:solidFill>
            <a:prstDash val="solid"/>
          </a:ln>
        </p:spPr>
        <p:txBody>
          <a:bodyPr/>
          <a:lstStyle/>
          <a:p>
            <a:endParaRPr lang="en-US"/>
          </a:p>
        </p:txBody>
      </p:sp>
      <p:sp>
        <p:nvSpPr>
          <p:cNvPr id="14" name="Rectangle 13">
            <a:extLst>
              <a:ext uri="{FF2B5EF4-FFF2-40B4-BE49-F238E27FC236}">
                <a16:creationId xmlns:a16="http://schemas.microsoft.com/office/drawing/2014/main" id="{0100E5D2-F9ED-4585-8B45-046485E3F059}"/>
              </a:ext>
            </a:extLst>
          </p:cNvPr>
          <p:cNvSpPr>
            <a:spLocks noGrp="1"/>
          </p:cNvSpPr>
          <p:nvPr/>
        </p:nvSpPr>
        <p:spPr>
          <a:xfrm>
            <a:off x="6324600" y="2524125"/>
            <a:ext cx="428625" cy="381000"/>
          </a:xfrm>
          <a:prstGeom prst="rect">
            <a:avLst/>
          </a:prstGeom>
          <a:noFill/>
          <a:ln w="0">
            <a:noFill/>
            <a:prstDash val="solid"/>
          </a:ln>
        </p:spPr>
        <p:txBody>
          <a:bodyPr anchor="t">
            <a:normAutofit fontScale="91944" lnSpcReduction="10000"/>
          </a:bodyPr>
          <a:lstStyle/>
          <a:p>
            <a:pPr algn="l">
              <a:defRPr sz="2250" b="1">
                <a:solidFill>
                  <a:srgbClr val="005A9C"/>
                </a:solidFill>
                <a:latin typeface="Arial"/>
                <a:ea typeface="Arial"/>
                <a:cs typeface="Arial"/>
              </a:defRPr>
            </a:pPr>
            <a:r>
              <a:rPr sz="2250" b="1">
                <a:solidFill>
                  <a:srgbClr val="005A9C"/>
                </a:solidFill>
                <a:latin typeface="Arial"/>
                <a:ea typeface="Arial"/>
                <a:cs typeface="Arial"/>
              </a:rPr>
              <a:t>3</a:t>
            </a:r>
          </a:p>
        </p:txBody>
      </p:sp>
      <p:sp>
        <p:nvSpPr>
          <p:cNvPr id="15" name="Rectangle 14">
            <a:extLst>
              <a:ext uri="{FF2B5EF4-FFF2-40B4-BE49-F238E27FC236}">
                <a16:creationId xmlns:a16="http://schemas.microsoft.com/office/drawing/2014/main" id="{E7A63CC6-8334-4453-94CA-A63878C28D91}"/>
              </a:ext>
            </a:extLst>
          </p:cNvPr>
          <p:cNvSpPr>
            <a:spLocks noGrp="1"/>
          </p:cNvSpPr>
          <p:nvPr/>
        </p:nvSpPr>
        <p:spPr>
          <a:xfrm>
            <a:off x="6324600" y="3048000"/>
            <a:ext cx="2000250" cy="523875"/>
          </a:xfrm>
          <a:prstGeom prst="rect">
            <a:avLst/>
          </a:prstGeom>
          <a:noFill/>
          <a:ln w="0">
            <a:noFill/>
            <a:prstDash val="solid"/>
          </a:ln>
        </p:spPr>
        <p:txBody>
          <a:bodyPr anchor="t">
            <a:normAutofit/>
          </a:bodyPr>
          <a:lstStyle/>
          <a:p>
            <a:pPr algn="l">
              <a:defRPr sz="1875" b="1">
                <a:solidFill>
                  <a:srgbClr val="003B66"/>
                </a:solidFill>
                <a:latin typeface="Arial"/>
                <a:ea typeface="Arial"/>
                <a:cs typeface="Arial"/>
              </a:defRPr>
            </a:pPr>
            <a:r>
              <a:rPr sz="1875" b="1">
                <a:solidFill>
                  <a:srgbClr val="003B66"/>
                </a:solidFill>
                <a:latin typeface="Arial"/>
                <a:ea typeface="Arial"/>
                <a:cs typeface="Arial"/>
              </a:rPr>
              <a:t>Prepare</a:t>
            </a:r>
          </a:p>
        </p:txBody>
      </p:sp>
      <p:sp>
        <p:nvSpPr>
          <p:cNvPr id="16" name="Rectangle 15">
            <a:extLst>
              <a:ext uri="{FF2B5EF4-FFF2-40B4-BE49-F238E27FC236}">
                <a16:creationId xmlns:a16="http://schemas.microsoft.com/office/drawing/2014/main" id="{818E4329-4672-40DB-B86E-CF996AFE78B5}"/>
              </a:ext>
            </a:extLst>
          </p:cNvPr>
          <p:cNvSpPr>
            <a:spLocks noGrp="1"/>
          </p:cNvSpPr>
          <p:nvPr/>
        </p:nvSpPr>
        <p:spPr>
          <a:xfrm>
            <a:off x="6324600" y="3714750"/>
            <a:ext cx="1943100" cy="781050"/>
          </a:xfrm>
          <a:prstGeom prst="rect">
            <a:avLst/>
          </a:prstGeom>
          <a:noFill/>
          <a:ln w="0">
            <a:noFill/>
            <a:prstDash val="solid"/>
          </a:ln>
        </p:spPr>
        <p:txBody>
          <a:bodyPr anchor="t">
            <a:normAutofit/>
          </a:bodyPr>
          <a:lstStyle/>
          <a:p>
            <a:pPr algn="l">
              <a:defRPr sz="1275" b="0">
                <a:solidFill>
                  <a:srgbClr val="52606D"/>
                </a:solidFill>
                <a:latin typeface="Arial"/>
                <a:ea typeface="Arial"/>
                <a:cs typeface="Arial"/>
              </a:defRPr>
            </a:pPr>
            <a:r>
              <a:rPr sz="1275" b="0">
                <a:solidFill>
                  <a:srgbClr val="52606D"/>
                </a:solidFill>
                <a:latin typeface="Arial"/>
                <a:ea typeface="Arial"/>
                <a:cs typeface="Arial"/>
              </a:rPr>
              <a:t>Let the portal set up and check the GitHub–Azure connection.</a:t>
            </a:r>
          </a:p>
        </p:txBody>
      </p:sp>
      <p:sp>
        <p:nvSpPr>
          <p:cNvPr id="17" name="Rectangle 16">
            <a:extLst>
              <a:ext uri="{FF2B5EF4-FFF2-40B4-BE49-F238E27FC236}">
                <a16:creationId xmlns:a16="http://schemas.microsoft.com/office/drawing/2014/main" id="{2320E891-647E-4B0C-8550-11748F8434D9}"/>
              </a:ext>
            </a:extLst>
          </p:cNvPr>
          <p:cNvSpPr>
            <a:spLocks noGrp="1"/>
          </p:cNvSpPr>
          <p:nvPr/>
        </p:nvSpPr>
        <p:spPr>
          <a:xfrm>
            <a:off x="8829675" y="2333625"/>
            <a:ext cx="2381250" cy="2333625"/>
          </a:xfrm>
          <a:prstGeom prst="rect">
            <a:avLst/>
          </a:prstGeom>
          <a:solidFill>
            <a:srgbClr val="F4F7FA"/>
          </a:solidFill>
          <a:ln w="9525">
            <a:solidFill>
              <a:srgbClr val="CBD5E1"/>
            </a:solidFill>
            <a:prstDash val="solid"/>
          </a:ln>
        </p:spPr>
        <p:txBody>
          <a:bodyPr/>
          <a:lstStyle/>
          <a:p>
            <a:endParaRPr lang="en-US"/>
          </a:p>
        </p:txBody>
      </p:sp>
      <p:sp>
        <p:nvSpPr>
          <p:cNvPr id="18" name="Rectangle 17">
            <a:extLst>
              <a:ext uri="{FF2B5EF4-FFF2-40B4-BE49-F238E27FC236}">
                <a16:creationId xmlns:a16="http://schemas.microsoft.com/office/drawing/2014/main" id="{45C6C69D-4979-4D67-800B-37BF1307B1AA}"/>
              </a:ext>
            </a:extLst>
          </p:cNvPr>
          <p:cNvSpPr>
            <a:spLocks noGrp="1"/>
          </p:cNvSpPr>
          <p:nvPr/>
        </p:nvSpPr>
        <p:spPr>
          <a:xfrm>
            <a:off x="9039225" y="2524125"/>
            <a:ext cx="428625" cy="381000"/>
          </a:xfrm>
          <a:prstGeom prst="rect">
            <a:avLst/>
          </a:prstGeom>
          <a:noFill/>
          <a:ln w="0">
            <a:noFill/>
            <a:prstDash val="solid"/>
          </a:ln>
        </p:spPr>
        <p:txBody>
          <a:bodyPr anchor="t">
            <a:normAutofit fontScale="91944" lnSpcReduction="10000"/>
          </a:bodyPr>
          <a:lstStyle/>
          <a:p>
            <a:pPr algn="l">
              <a:defRPr sz="2250" b="1">
                <a:solidFill>
                  <a:srgbClr val="005A9C"/>
                </a:solidFill>
                <a:latin typeface="Arial"/>
                <a:ea typeface="Arial"/>
                <a:cs typeface="Arial"/>
              </a:defRPr>
            </a:pPr>
            <a:r>
              <a:rPr sz="2250" b="1">
                <a:solidFill>
                  <a:srgbClr val="005A9C"/>
                </a:solidFill>
                <a:latin typeface="Arial"/>
                <a:ea typeface="Arial"/>
                <a:cs typeface="Arial"/>
              </a:rPr>
              <a:t>4</a:t>
            </a:r>
          </a:p>
        </p:txBody>
      </p:sp>
      <p:sp>
        <p:nvSpPr>
          <p:cNvPr id="19" name="Rectangle 18">
            <a:extLst>
              <a:ext uri="{FF2B5EF4-FFF2-40B4-BE49-F238E27FC236}">
                <a16:creationId xmlns:a16="http://schemas.microsoft.com/office/drawing/2014/main" id="{72C8F518-171E-4B40-BAD4-7D2A9AC9210B}"/>
              </a:ext>
            </a:extLst>
          </p:cNvPr>
          <p:cNvSpPr>
            <a:spLocks noGrp="1"/>
          </p:cNvSpPr>
          <p:nvPr/>
        </p:nvSpPr>
        <p:spPr>
          <a:xfrm>
            <a:off x="9039225" y="3048000"/>
            <a:ext cx="2000250" cy="523875"/>
          </a:xfrm>
          <a:prstGeom prst="rect">
            <a:avLst/>
          </a:prstGeom>
          <a:noFill/>
          <a:ln w="0">
            <a:noFill/>
            <a:prstDash val="solid"/>
          </a:ln>
        </p:spPr>
        <p:txBody>
          <a:bodyPr anchor="t">
            <a:normAutofit fontScale="87866"/>
          </a:bodyPr>
          <a:lstStyle/>
          <a:p>
            <a:pPr algn="l">
              <a:defRPr sz="1875" b="1">
                <a:solidFill>
                  <a:srgbClr val="003B66"/>
                </a:solidFill>
                <a:latin typeface="Arial"/>
                <a:ea typeface="Arial"/>
                <a:cs typeface="Arial"/>
              </a:defRPr>
            </a:pPr>
            <a:r>
              <a:rPr sz="1875" b="1">
                <a:solidFill>
                  <a:srgbClr val="003B66"/>
                </a:solidFill>
                <a:latin typeface="Arial"/>
                <a:ea typeface="Arial"/>
                <a:cs typeface="Arial"/>
              </a:rPr>
              <a:t>Publish &amp; manage</a:t>
            </a:r>
          </a:p>
        </p:txBody>
      </p:sp>
      <p:sp>
        <p:nvSpPr>
          <p:cNvPr id="20" name="Rectangle 19">
            <a:extLst>
              <a:ext uri="{FF2B5EF4-FFF2-40B4-BE49-F238E27FC236}">
                <a16:creationId xmlns:a16="http://schemas.microsoft.com/office/drawing/2014/main" id="{C6A58586-9579-4747-B0E7-B66E789666B0}"/>
              </a:ext>
            </a:extLst>
          </p:cNvPr>
          <p:cNvSpPr>
            <a:spLocks noGrp="1"/>
          </p:cNvSpPr>
          <p:nvPr/>
        </p:nvSpPr>
        <p:spPr>
          <a:xfrm>
            <a:off x="9039225" y="3714750"/>
            <a:ext cx="1943100" cy="781050"/>
          </a:xfrm>
          <a:prstGeom prst="rect">
            <a:avLst/>
          </a:prstGeom>
          <a:noFill/>
          <a:ln w="0">
            <a:noFill/>
            <a:prstDash val="solid"/>
          </a:ln>
        </p:spPr>
        <p:txBody>
          <a:bodyPr anchor="t">
            <a:normAutofit fontScale="94268"/>
          </a:bodyPr>
          <a:lstStyle/>
          <a:p>
            <a:pPr algn="l">
              <a:defRPr sz="1275" b="0">
                <a:solidFill>
                  <a:srgbClr val="52606D"/>
                </a:solidFill>
                <a:latin typeface="Arial"/>
                <a:ea typeface="Arial"/>
                <a:cs typeface="Arial"/>
              </a:defRPr>
            </a:pPr>
            <a:r>
              <a:rPr sz="1275" b="0">
                <a:solidFill>
                  <a:srgbClr val="52606D"/>
                </a:solidFill>
                <a:latin typeface="Arial"/>
                <a:ea typeface="Arial"/>
                <a:cs typeface="Arial"/>
              </a:rPr>
              <a:t>Make the approved version live, then maintain access and settings.</a:t>
            </a:r>
          </a:p>
        </p:txBody>
      </p:sp>
      <p:sp>
        <p:nvSpPr>
          <p:cNvPr id="21" name="Rectangle 20">
            <a:extLst>
              <a:ext uri="{FF2B5EF4-FFF2-40B4-BE49-F238E27FC236}">
                <a16:creationId xmlns:a16="http://schemas.microsoft.com/office/drawing/2014/main" id="{96D2A139-EAD1-4D5E-A29E-66D82F5AD62C}"/>
              </a:ext>
            </a:extLst>
          </p:cNvPr>
          <p:cNvSpPr>
            <a:spLocks noGrp="1"/>
          </p:cNvSpPr>
          <p:nvPr/>
        </p:nvSpPr>
        <p:spPr>
          <a:xfrm>
            <a:off x="0" y="6705600"/>
            <a:ext cx="12192000" cy="152400"/>
          </a:xfrm>
          <a:prstGeom prst="rect">
            <a:avLst/>
          </a:prstGeom>
          <a:solidFill>
            <a:srgbClr val="003B66"/>
          </a:solidFill>
          <a:ln w="0">
            <a:noFill/>
            <a:prstDash val="solid"/>
          </a:ln>
        </p:spPr>
        <p:txBody>
          <a:bodyPr/>
          <a:lstStyle/>
          <a:p>
            <a:endParaRPr lang="en-US"/>
          </a:p>
        </p:txBody>
      </p:sp>
    </p:spTree>
    <p:extLst>
      <p:ext uri="{BB962C8B-B14F-4D97-AF65-F5344CB8AC3E}">
        <p14:creationId xmlns:p14="http://schemas.microsoft.com/office/powerpoint/2010/main" val="757553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B0586EB2-C62C-4525-8600-FE0AFBC8CDC7}"/>
              </a:ext>
            </a:extLst>
          </p:cNvPr>
          <p:cNvSpPr>
            <a:spLocks noGrp="1"/>
          </p:cNvSpPr>
          <p:nvPr/>
        </p:nvSpPr>
        <p:spPr>
          <a:xfrm>
            <a:off x="685800" y="304800"/>
            <a:ext cx="5715000" cy="209550"/>
          </a:xfrm>
          <a:prstGeom prst="rect">
            <a:avLst/>
          </a:prstGeom>
          <a:noFill/>
          <a:ln w="0">
            <a:noFill/>
            <a:prstDash val="solid"/>
          </a:ln>
        </p:spPr>
        <p:txBody>
          <a:bodyPr anchor="t">
            <a:normAutofit fontScale="86111" lnSpcReduction="10000"/>
          </a:bodyPr>
          <a:lstStyle/>
          <a:p>
            <a:pPr algn="l">
              <a:defRPr sz="900" b="1">
                <a:solidFill>
                  <a:srgbClr val="005A9C"/>
                </a:solidFill>
                <a:latin typeface="Arial"/>
                <a:ea typeface="Arial"/>
                <a:cs typeface="Arial"/>
              </a:defRPr>
            </a:pPr>
            <a:r>
              <a:rPr sz="900" b="1">
                <a:solidFill>
                  <a:srgbClr val="005A9C"/>
                </a:solidFill>
                <a:latin typeface="Arial"/>
                <a:ea typeface="Arial"/>
                <a:cs typeface="Arial"/>
              </a:rPr>
              <a:t>CEDARVILLE APP PORTAL</a:t>
            </a:r>
          </a:p>
        </p:txBody>
      </p:sp>
      <p:sp>
        <p:nvSpPr>
          <p:cNvPr id="2" name="Rectangle 1">
            <a:extLst>
              <a:ext uri="{FF2B5EF4-FFF2-40B4-BE49-F238E27FC236}">
                <a16:creationId xmlns:a16="http://schemas.microsoft.com/office/drawing/2014/main" id="{FEBECD9F-F134-4CAF-8A00-715CC294DF21}"/>
              </a:ext>
            </a:extLst>
          </p:cNvPr>
          <p:cNvSpPr>
            <a:spLocks noGrp="1"/>
          </p:cNvSpPr>
          <p:nvPr/>
        </p:nvSpPr>
        <p:spPr>
          <a:xfrm>
            <a:off x="685800" y="647700"/>
            <a:ext cx="9334500" cy="523875"/>
          </a:xfrm>
          <a:prstGeom prst="rect">
            <a:avLst/>
          </a:prstGeom>
          <a:noFill/>
          <a:ln w="0">
            <a:noFill/>
            <a:prstDash val="solid"/>
          </a:ln>
        </p:spPr>
        <p:txBody>
          <a:bodyPr anchor="t">
            <a:normAutofit fontScale="99780"/>
          </a:bodyPr>
          <a:lstStyle/>
          <a:p>
            <a:pPr algn="l">
              <a:defRPr sz="2850" b="1">
                <a:solidFill>
                  <a:srgbClr val="102A43"/>
                </a:solidFill>
                <a:latin typeface="Arial"/>
                <a:ea typeface="Arial"/>
                <a:cs typeface="Arial"/>
              </a:defRPr>
            </a:pPr>
            <a:r>
              <a:rPr sz="2400" b="1" dirty="0">
                <a:solidFill>
                  <a:srgbClr val="102A43"/>
                </a:solidFill>
                <a:latin typeface="Arial"/>
                <a:ea typeface="Arial"/>
                <a:cs typeface="Arial"/>
              </a:rPr>
              <a:t>The Create App screen </a:t>
            </a:r>
            <a:r>
              <a:rPr lang="en-US" sz="2400" b="1" dirty="0">
                <a:solidFill>
                  <a:srgbClr val="102A43"/>
                </a:solidFill>
                <a:latin typeface="Arial"/>
                <a:ea typeface="Arial"/>
                <a:cs typeface="Arial"/>
              </a:rPr>
              <a:t>gives you some </a:t>
            </a:r>
            <a:r>
              <a:rPr sz="2400" b="1">
                <a:solidFill>
                  <a:srgbClr val="102A43"/>
                </a:solidFill>
                <a:latin typeface="Arial"/>
                <a:ea typeface="Arial"/>
                <a:cs typeface="Arial"/>
              </a:rPr>
              <a:t>starting choices</a:t>
            </a:r>
            <a:endParaRPr sz="2400" b="1" dirty="0">
              <a:solidFill>
                <a:srgbClr val="102A43"/>
              </a:solidFill>
              <a:latin typeface="Arial"/>
              <a:ea typeface="Arial"/>
              <a:cs typeface="Arial"/>
            </a:endParaRPr>
          </a:p>
        </p:txBody>
      </p:sp>
      <p:sp>
        <p:nvSpPr>
          <p:cNvPr id="3" name="Rectangle 2">
            <a:extLst>
              <a:ext uri="{FF2B5EF4-FFF2-40B4-BE49-F238E27FC236}">
                <a16:creationId xmlns:a16="http://schemas.microsoft.com/office/drawing/2014/main" id="{2A2FFC9C-1B52-4CCE-B277-B239AA2C824F}"/>
              </a:ext>
            </a:extLst>
          </p:cNvPr>
          <p:cNvSpPr>
            <a:spLocks noGrp="1"/>
          </p:cNvSpPr>
          <p:nvPr/>
        </p:nvSpPr>
        <p:spPr>
          <a:xfrm>
            <a:off x="685800" y="1285875"/>
            <a:ext cx="10820400" cy="28575"/>
          </a:xfrm>
          <a:prstGeom prst="rect">
            <a:avLst/>
          </a:prstGeom>
          <a:solidFill>
            <a:srgbClr val="FBBF24"/>
          </a:solidFill>
          <a:ln w="0">
            <a:noFill/>
            <a:prstDash val="solid"/>
          </a:ln>
        </p:spPr>
        <p:txBody>
          <a:bodyPr/>
          <a:lstStyle/>
          <a:p>
            <a:endParaRPr lang="en-US"/>
          </a:p>
        </p:txBody>
      </p:sp>
      <p:sp>
        <p:nvSpPr>
          <p:cNvPr id="4" name="Rectangle 3">
            <a:extLst>
              <a:ext uri="{FF2B5EF4-FFF2-40B4-BE49-F238E27FC236}">
                <a16:creationId xmlns:a16="http://schemas.microsoft.com/office/drawing/2014/main" id="{74DDB0E4-1897-472E-A43B-E05B892C4430}"/>
              </a:ext>
            </a:extLst>
          </p:cNvPr>
          <p:cNvSpPr>
            <a:spLocks noGrp="1"/>
          </p:cNvSpPr>
          <p:nvPr/>
        </p:nvSpPr>
        <p:spPr>
          <a:xfrm>
            <a:off x="10839450" y="333375"/>
            <a:ext cx="666750" cy="228600"/>
          </a:xfrm>
          <a:prstGeom prst="rect">
            <a:avLst/>
          </a:prstGeom>
          <a:noFill/>
          <a:ln w="0">
            <a:noFill/>
            <a:prstDash val="solid"/>
          </a:ln>
        </p:spPr>
        <p:txBody>
          <a:bodyPr anchor="t">
            <a:normAutofit fontScale="93214" lnSpcReduction="10000"/>
          </a:bodyPr>
          <a:lstStyle/>
          <a:p>
            <a:pPr algn="r">
              <a:defRPr sz="1050" b="0">
                <a:solidFill>
                  <a:srgbClr val="52606D"/>
                </a:solidFill>
                <a:latin typeface="Arial"/>
                <a:ea typeface="Arial"/>
                <a:cs typeface="Arial"/>
              </a:defRPr>
            </a:pPr>
            <a:r>
              <a:rPr sz="1050" b="0">
                <a:solidFill>
                  <a:srgbClr val="52606D"/>
                </a:solidFill>
                <a:latin typeface="Arial"/>
                <a:ea typeface="Arial"/>
                <a:cs typeface="Arial"/>
              </a:rPr>
              <a:t>05</a:t>
            </a:r>
          </a:p>
        </p:txBody>
      </p:sp>
      <p:pic>
        <p:nvPicPr>
          <p:cNvPr id="19" name="Picture 18"/>
          <p:cNvPicPr>
            <a:picLocks noChangeAspect="1"/>
          </p:cNvPicPr>
          <p:nvPr/>
        </p:nvPicPr>
        <p:blipFill>
          <a:blip r:embed="rId3">
            <a:extLst>
              <a:ext uri="{28A0092B-C50C-407E-A947-70E740481C1C}">
                <a14:useLocalDpi xmlns:a14="http://schemas.microsoft.com/office/drawing/2010/main" val="0"/>
              </a:ext>
            </a:extLst>
          </a:blip>
          <a:srcRect t="-291" b="20341"/>
          <a:stretch>
            <a:fillRect/>
          </a:stretch>
        </p:blipFill>
        <p:spPr>
          <a:xfrm>
            <a:off x="685800" y="1457325"/>
            <a:ext cx="7429500" cy="4457700"/>
          </a:xfrm>
          <a:prstGeom prst="rect">
            <a:avLst/>
          </a:prstGeom>
        </p:spPr>
      </p:pic>
      <p:sp>
        <p:nvSpPr>
          <p:cNvPr id="6" name="Rectangle 5">
            <a:extLst>
              <a:ext uri="{FF2B5EF4-FFF2-40B4-BE49-F238E27FC236}">
                <a16:creationId xmlns:a16="http://schemas.microsoft.com/office/drawing/2014/main" id="{7BEE1CA6-65F3-42F4-B27C-D342C8003D95}"/>
              </a:ext>
            </a:extLst>
          </p:cNvPr>
          <p:cNvSpPr>
            <a:spLocks noGrp="1"/>
          </p:cNvSpPr>
          <p:nvPr/>
        </p:nvSpPr>
        <p:spPr>
          <a:xfrm>
            <a:off x="8439150" y="1809749"/>
            <a:ext cx="2571750" cy="3931831"/>
          </a:xfrm>
          <a:prstGeom prst="rect">
            <a:avLst/>
          </a:prstGeom>
          <a:solidFill>
            <a:srgbClr val="F4F7FA"/>
          </a:solidFill>
          <a:ln w="9525">
            <a:solidFill>
              <a:srgbClr val="CBD5E1"/>
            </a:solidFill>
            <a:prstDash val="solid"/>
          </a:ln>
        </p:spPr>
        <p:txBody>
          <a:bodyPr/>
          <a:lstStyle/>
          <a:p>
            <a:endParaRPr lang="en-US"/>
          </a:p>
        </p:txBody>
      </p:sp>
      <p:sp>
        <p:nvSpPr>
          <p:cNvPr id="7" name="Rectangle 6">
            <a:extLst>
              <a:ext uri="{FF2B5EF4-FFF2-40B4-BE49-F238E27FC236}">
                <a16:creationId xmlns:a16="http://schemas.microsoft.com/office/drawing/2014/main" id="{7D530CA9-DF74-4FCE-A911-95A6EC41C476}"/>
              </a:ext>
            </a:extLst>
          </p:cNvPr>
          <p:cNvSpPr>
            <a:spLocks noGrp="1"/>
          </p:cNvSpPr>
          <p:nvPr/>
        </p:nvSpPr>
        <p:spPr>
          <a:xfrm>
            <a:off x="8724900" y="2143125"/>
            <a:ext cx="2000250" cy="342900"/>
          </a:xfrm>
          <a:prstGeom prst="rect">
            <a:avLst/>
          </a:prstGeom>
          <a:noFill/>
          <a:ln w="0">
            <a:noFill/>
            <a:prstDash val="solid"/>
          </a:ln>
        </p:spPr>
        <p:txBody>
          <a:bodyPr anchor="t">
            <a:normAutofit fontScale="88000" lnSpcReduction="10000"/>
          </a:bodyPr>
          <a:lstStyle/>
          <a:p>
            <a:pPr algn="l">
              <a:defRPr sz="1875" b="1">
                <a:solidFill>
                  <a:srgbClr val="003B66"/>
                </a:solidFill>
                <a:latin typeface="Arial"/>
                <a:ea typeface="Arial"/>
                <a:cs typeface="Arial"/>
              </a:defRPr>
            </a:pPr>
            <a:r>
              <a:rPr sz="1875" b="1">
                <a:solidFill>
                  <a:srgbClr val="003B66"/>
                </a:solidFill>
                <a:latin typeface="Arial"/>
                <a:ea typeface="Arial"/>
                <a:cs typeface="Arial"/>
              </a:rPr>
              <a:t>What to notice</a:t>
            </a:r>
          </a:p>
        </p:txBody>
      </p:sp>
      <p:sp>
        <p:nvSpPr>
          <p:cNvPr id="8" name="Oval 7">
            <a:extLst>
              <a:ext uri="{FF2B5EF4-FFF2-40B4-BE49-F238E27FC236}">
                <a16:creationId xmlns:a16="http://schemas.microsoft.com/office/drawing/2014/main" id="{8E8AD9FD-CFF9-4974-BBF2-EA5C2DDC78FD}"/>
              </a:ext>
            </a:extLst>
          </p:cNvPr>
          <p:cNvSpPr>
            <a:spLocks noGrp="1"/>
          </p:cNvSpPr>
          <p:nvPr/>
        </p:nvSpPr>
        <p:spPr>
          <a:xfrm>
            <a:off x="8667750" y="2905125"/>
            <a:ext cx="114300" cy="114300"/>
          </a:xfrm>
          <a:prstGeom prst="ellipse">
            <a:avLst/>
          </a:prstGeom>
          <a:solidFill>
            <a:srgbClr val="FBBF24"/>
          </a:solidFill>
          <a:ln w="0">
            <a:noFill/>
            <a:prstDash val="solid"/>
          </a:ln>
        </p:spPr>
        <p:txBody>
          <a:bodyPr/>
          <a:lstStyle/>
          <a:p>
            <a:endParaRPr lang="en-US"/>
          </a:p>
        </p:txBody>
      </p:sp>
      <p:sp>
        <p:nvSpPr>
          <p:cNvPr id="9" name="Rectangle 8">
            <a:extLst>
              <a:ext uri="{FF2B5EF4-FFF2-40B4-BE49-F238E27FC236}">
                <a16:creationId xmlns:a16="http://schemas.microsoft.com/office/drawing/2014/main" id="{04DC22C5-170A-4C90-BCD8-EE2A193F3858}"/>
              </a:ext>
            </a:extLst>
          </p:cNvPr>
          <p:cNvSpPr>
            <a:spLocks noGrp="1"/>
          </p:cNvSpPr>
          <p:nvPr/>
        </p:nvSpPr>
        <p:spPr>
          <a:xfrm>
            <a:off x="8934450" y="2533650"/>
            <a:ext cx="1905000" cy="1131479"/>
          </a:xfrm>
          <a:prstGeom prst="rect">
            <a:avLst/>
          </a:prstGeom>
          <a:noFill/>
          <a:ln w="0">
            <a:noFill/>
            <a:prstDash val="solid"/>
          </a:ln>
        </p:spPr>
        <p:txBody>
          <a:bodyPr anchor="t">
            <a:normAutofit fontScale="94597"/>
          </a:bodyPr>
          <a:lstStyle/>
          <a:p>
            <a:pPr algn="l">
              <a:defRPr sz="1200" b="0">
                <a:solidFill>
                  <a:srgbClr val="102A43"/>
                </a:solidFill>
                <a:latin typeface="Arial"/>
                <a:ea typeface="Arial"/>
                <a:cs typeface="Arial"/>
              </a:defRPr>
            </a:pPr>
            <a:r>
              <a:rPr sz="1400" b="0" dirty="0">
                <a:solidFill>
                  <a:srgbClr val="102A43"/>
                </a:solidFill>
                <a:latin typeface="Arial"/>
                <a:ea typeface="Arial"/>
                <a:cs typeface="Arial"/>
              </a:rPr>
              <a:t>Recommended Templates use plain-language scenarios.</a:t>
            </a:r>
          </a:p>
        </p:txBody>
      </p:sp>
      <p:sp>
        <p:nvSpPr>
          <p:cNvPr id="10" name="Oval 9">
            <a:extLst>
              <a:ext uri="{FF2B5EF4-FFF2-40B4-BE49-F238E27FC236}">
                <a16:creationId xmlns:a16="http://schemas.microsoft.com/office/drawing/2014/main" id="{B44F6B19-C06E-4A1C-8097-6EF0B4DFE3D2}"/>
              </a:ext>
            </a:extLst>
          </p:cNvPr>
          <p:cNvSpPr>
            <a:spLocks noGrp="1"/>
          </p:cNvSpPr>
          <p:nvPr/>
        </p:nvSpPr>
        <p:spPr>
          <a:xfrm>
            <a:off x="8667750" y="3629025"/>
            <a:ext cx="114300" cy="114300"/>
          </a:xfrm>
          <a:prstGeom prst="ellipse">
            <a:avLst/>
          </a:prstGeom>
          <a:solidFill>
            <a:srgbClr val="FBBF24"/>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06945927-AA28-438B-AB1A-DED846555A4D}"/>
              </a:ext>
            </a:extLst>
          </p:cNvPr>
          <p:cNvSpPr>
            <a:spLocks noGrp="1"/>
          </p:cNvSpPr>
          <p:nvPr/>
        </p:nvSpPr>
        <p:spPr>
          <a:xfrm>
            <a:off x="8934450" y="3407956"/>
            <a:ext cx="1828800" cy="1190624"/>
          </a:xfrm>
          <a:prstGeom prst="rect">
            <a:avLst/>
          </a:prstGeom>
          <a:noFill/>
          <a:ln w="0">
            <a:noFill/>
            <a:prstDash val="solid"/>
          </a:ln>
        </p:spPr>
        <p:txBody>
          <a:bodyPr anchor="t">
            <a:normAutofit fontScale="99097"/>
          </a:bodyPr>
          <a:lstStyle/>
          <a:p>
            <a:pPr algn="l">
              <a:defRPr sz="1200" b="0">
                <a:solidFill>
                  <a:srgbClr val="102A43"/>
                </a:solidFill>
                <a:latin typeface="Arial"/>
                <a:ea typeface="Arial"/>
                <a:cs typeface="Arial"/>
              </a:defRPr>
            </a:pPr>
            <a:r>
              <a:rPr sz="1400" b="0" dirty="0">
                <a:solidFill>
                  <a:srgbClr val="102A43"/>
                </a:solidFill>
                <a:latin typeface="Arial"/>
                <a:ea typeface="Arial"/>
                <a:cs typeface="Arial"/>
              </a:rPr>
              <a:t>Developer Starters are available when a technical direction is already known.</a:t>
            </a:r>
          </a:p>
        </p:txBody>
      </p:sp>
      <p:sp>
        <p:nvSpPr>
          <p:cNvPr id="12" name="Oval 11">
            <a:extLst>
              <a:ext uri="{FF2B5EF4-FFF2-40B4-BE49-F238E27FC236}">
                <a16:creationId xmlns:a16="http://schemas.microsoft.com/office/drawing/2014/main" id="{5E0D8DD9-A310-4D32-9266-B239191B0845}"/>
              </a:ext>
            </a:extLst>
          </p:cNvPr>
          <p:cNvSpPr>
            <a:spLocks noGrp="1"/>
          </p:cNvSpPr>
          <p:nvPr/>
        </p:nvSpPr>
        <p:spPr>
          <a:xfrm>
            <a:off x="8658225" y="4808130"/>
            <a:ext cx="114300" cy="114300"/>
          </a:xfrm>
          <a:prstGeom prst="ellipse">
            <a:avLst/>
          </a:prstGeom>
          <a:solidFill>
            <a:srgbClr val="FBBF24"/>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84B14EAB-53F5-4662-85DB-CAD696E9A762}"/>
              </a:ext>
            </a:extLst>
          </p:cNvPr>
          <p:cNvSpPr>
            <a:spLocks noGrp="1"/>
          </p:cNvSpPr>
          <p:nvPr/>
        </p:nvSpPr>
        <p:spPr>
          <a:xfrm>
            <a:off x="8934450" y="4455705"/>
            <a:ext cx="1828800" cy="933450"/>
          </a:xfrm>
          <a:prstGeom prst="rect">
            <a:avLst/>
          </a:prstGeom>
          <a:noFill/>
          <a:ln w="0">
            <a:noFill/>
            <a:prstDash val="solid"/>
          </a:ln>
        </p:spPr>
        <p:txBody>
          <a:bodyPr anchor="t">
            <a:noAutofit/>
          </a:bodyPr>
          <a:lstStyle/>
          <a:p>
            <a:pPr algn="l">
              <a:defRPr sz="1200" b="0">
                <a:solidFill>
                  <a:srgbClr val="102A43"/>
                </a:solidFill>
                <a:latin typeface="Arial"/>
                <a:ea typeface="Arial"/>
                <a:cs typeface="Arial"/>
              </a:defRPr>
            </a:pPr>
            <a:r>
              <a:rPr sz="1400" b="0" dirty="0">
                <a:solidFill>
                  <a:srgbClr val="102A43"/>
                </a:solidFill>
                <a:latin typeface="Arial"/>
                <a:ea typeface="Arial"/>
                <a:cs typeface="Arial"/>
              </a:rPr>
              <a:t>Each choice signals database and Cedarville login availability.</a:t>
            </a:r>
          </a:p>
        </p:txBody>
      </p:sp>
      <p:sp>
        <p:nvSpPr>
          <p:cNvPr id="14" name="Rectangle 13">
            <a:extLst>
              <a:ext uri="{FF2B5EF4-FFF2-40B4-BE49-F238E27FC236}">
                <a16:creationId xmlns:a16="http://schemas.microsoft.com/office/drawing/2014/main" id="{CDBC064B-9F48-4318-9460-79E42AA62328}"/>
              </a:ext>
            </a:extLst>
          </p:cNvPr>
          <p:cNvSpPr>
            <a:spLocks noGrp="1"/>
          </p:cNvSpPr>
          <p:nvPr/>
        </p:nvSpPr>
        <p:spPr>
          <a:xfrm>
            <a:off x="0" y="6705600"/>
            <a:ext cx="12192000" cy="152400"/>
          </a:xfrm>
          <a:prstGeom prst="rect">
            <a:avLst/>
          </a:prstGeom>
          <a:solidFill>
            <a:srgbClr val="003B66"/>
          </a:solidFill>
          <a:ln w="0">
            <a:noFill/>
            <a:prstDash val="solid"/>
          </a:ln>
        </p:spPr>
        <p:txBody>
          <a:bodyPr/>
          <a:lstStyle/>
          <a:p>
            <a:endParaRPr lang="en-US"/>
          </a:p>
        </p:txBody>
      </p:sp>
    </p:spTree>
    <p:extLst>
      <p:ext uri="{BB962C8B-B14F-4D97-AF65-F5344CB8AC3E}">
        <p14:creationId xmlns:p14="http://schemas.microsoft.com/office/powerpoint/2010/main" val="360293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C64F5194-836C-4369-A3AF-2A4442D458A6}"/>
              </a:ext>
            </a:extLst>
          </p:cNvPr>
          <p:cNvSpPr>
            <a:spLocks noGrp="1"/>
          </p:cNvSpPr>
          <p:nvPr/>
        </p:nvSpPr>
        <p:spPr>
          <a:xfrm>
            <a:off x="685800" y="304800"/>
            <a:ext cx="5715000" cy="209550"/>
          </a:xfrm>
          <a:prstGeom prst="rect">
            <a:avLst/>
          </a:prstGeom>
          <a:noFill/>
          <a:ln w="0">
            <a:noFill/>
            <a:prstDash val="solid"/>
          </a:ln>
        </p:spPr>
        <p:txBody>
          <a:bodyPr anchor="t">
            <a:normAutofit fontScale="86111" lnSpcReduction="10000"/>
          </a:bodyPr>
          <a:lstStyle/>
          <a:p>
            <a:pPr algn="l">
              <a:defRPr sz="900" b="1">
                <a:solidFill>
                  <a:srgbClr val="005A9C"/>
                </a:solidFill>
                <a:latin typeface="Arial"/>
                <a:ea typeface="Arial"/>
                <a:cs typeface="Arial"/>
              </a:defRPr>
            </a:pPr>
            <a:r>
              <a:rPr sz="900" b="1">
                <a:solidFill>
                  <a:srgbClr val="005A9C"/>
                </a:solidFill>
                <a:latin typeface="Arial"/>
                <a:ea typeface="Arial"/>
                <a:cs typeface="Arial"/>
              </a:rPr>
              <a:t>CEDARVILLE APP PORTAL</a:t>
            </a:r>
          </a:p>
        </p:txBody>
      </p:sp>
      <p:sp>
        <p:nvSpPr>
          <p:cNvPr id="2" name="Rectangle 1">
            <a:extLst>
              <a:ext uri="{FF2B5EF4-FFF2-40B4-BE49-F238E27FC236}">
                <a16:creationId xmlns:a16="http://schemas.microsoft.com/office/drawing/2014/main" id="{047F36B5-7538-416C-918A-B5D3227042C9}"/>
              </a:ext>
            </a:extLst>
          </p:cNvPr>
          <p:cNvSpPr>
            <a:spLocks noGrp="1"/>
          </p:cNvSpPr>
          <p:nvPr/>
        </p:nvSpPr>
        <p:spPr>
          <a:xfrm>
            <a:off x="685799" y="647700"/>
            <a:ext cx="10086975" cy="523875"/>
          </a:xfrm>
          <a:prstGeom prst="rect">
            <a:avLst/>
          </a:prstGeom>
          <a:noFill/>
          <a:ln w="0">
            <a:noFill/>
            <a:prstDash val="solid"/>
          </a:ln>
        </p:spPr>
        <p:txBody>
          <a:bodyPr anchor="t">
            <a:noAutofit/>
          </a:bodyPr>
          <a:lstStyle/>
          <a:p>
            <a:pPr algn="l">
              <a:defRPr sz="2850" b="1">
                <a:solidFill>
                  <a:srgbClr val="102A43"/>
                </a:solidFill>
                <a:latin typeface="Arial"/>
                <a:ea typeface="Arial"/>
                <a:cs typeface="Arial"/>
              </a:defRPr>
            </a:pPr>
            <a:r>
              <a:rPr sz="2400" b="1" dirty="0">
                <a:solidFill>
                  <a:srgbClr val="102A43"/>
                </a:solidFill>
                <a:latin typeface="Arial"/>
                <a:ea typeface="Arial"/>
                <a:cs typeface="Arial"/>
              </a:rPr>
              <a:t>Choose the closest business problem—not the most technical label</a:t>
            </a:r>
          </a:p>
        </p:txBody>
      </p:sp>
      <p:sp>
        <p:nvSpPr>
          <p:cNvPr id="3" name="Rectangle 2">
            <a:extLst>
              <a:ext uri="{FF2B5EF4-FFF2-40B4-BE49-F238E27FC236}">
                <a16:creationId xmlns:a16="http://schemas.microsoft.com/office/drawing/2014/main" id="{8F905F86-B87C-4589-889F-BFD2F66D46AD}"/>
              </a:ext>
            </a:extLst>
          </p:cNvPr>
          <p:cNvSpPr>
            <a:spLocks noGrp="1"/>
          </p:cNvSpPr>
          <p:nvPr/>
        </p:nvSpPr>
        <p:spPr>
          <a:xfrm>
            <a:off x="685800" y="1285875"/>
            <a:ext cx="10820400" cy="28575"/>
          </a:xfrm>
          <a:prstGeom prst="rect">
            <a:avLst/>
          </a:prstGeom>
          <a:solidFill>
            <a:srgbClr val="FBBF24"/>
          </a:solidFill>
          <a:ln w="0">
            <a:noFill/>
            <a:prstDash val="solid"/>
          </a:ln>
        </p:spPr>
        <p:txBody>
          <a:bodyPr/>
          <a:lstStyle/>
          <a:p>
            <a:endParaRPr lang="en-US"/>
          </a:p>
        </p:txBody>
      </p:sp>
      <p:sp>
        <p:nvSpPr>
          <p:cNvPr id="4" name="Rectangle 3">
            <a:extLst>
              <a:ext uri="{FF2B5EF4-FFF2-40B4-BE49-F238E27FC236}">
                <a16:creationId xmlns:a16="http://schemas.microsoft.com/office/drawing/2014/main" id="{318FAF6E-34AE-4983-8CB5-CEEF630A172F}"/>
              </a:ext>
            </a:extLst>
          </p:cNvPr>
          <p:cNvSpPr>
            <a:spLocks noGrp="1"/>
          </p:cNvSpPr>
          <p:nvPr/>
        </p:nvSpPr>
        <p:spPr>
          <a:xfrm>
            <a:off x="10839450" y="333375"/>
            <a:ext cx="666750" cy="228600"/>
          </a:xfrm>
          <a:prstGeom prst="rect">
            <a:avLst/>
          </a:prstGeom>
          <a:noFill/>
          <a:ln w="0">
            <a:noFill/>
            <a:prstDash val="solid"/>
          </a:ln>
        </p:spPr>
        <p:txBody>
          <a:bodyPr anchor="t">
            <a:normAutofit fontScale="93214" lnSpcReduction="10000"/>
          </a:bodyPr>
          <a:lstStyle/>
          <a:p>
            <a:pPr algn="r">
              <a:defRPr sz="1050" b="0">
                <a:solidFill>
                  <a:srgbClr val="52606D"/>
                </a:solidFill>
                <a:latin typeface="Arial"/>
                <a:ea typeface="Arial"/>
                <a:cs typeface="Arial"/>
              </a:defRPr>
            </a:pPr>
            <a:r>
              <a:rPr sz="1050" b="0">
                <a:solidFill>
                  <a:srgbClr val="52606D"/>
                </a:solidFill>
                <a:latin typeface="Arial"/>
                <a:ea typeface="Arial"/>
                <a:cs typeface="Arial"/>
              </a:rPr>
              <a:t>06</a:t>
            </a:r>
          </a:p>
        </p:txBody>
      </p:sp>
      <p:sp>
        <p:nvSpPr>
          <p:cNvPr id="5" name="Rectangle 4">
            <a:extLst>
              <a:ext uri="{FF2B5EF4-FFF2-40B4-BE49-F238E27FC236}">
                <a16:creationId xmlns:a16="http://schemas.microsoft.com/office/drawing/2014/main" id="{6DC164A3-F539-4155-B8CC-EE4D6F50EC2F}"/>
              </a:ext>
            </a:extLst>
          </p:cNvPr>
          <p:cNvSpPr>
            <a:spLocks noGrp="1"/>
          </p:cNvSpPr>
          <p:nvPr/>
        </p:nvSpPr>
        <p:spPr>
          <a:xfrm>
            <a:off x="685800" y="1733550"/>
            <a:ext cx="10382250" cy="733425"/>
          </a:xfrm>
          <a:prstGeom prst="rect">
            <a:avLst/>
          </a:prstGeom>
          <a:solidFill>
            <a:srgbClr val="FFFFFF"/>
          </a:solidFill>
          <a:ln w="9525">
            <a:solidFill>
              <a:srgbClr val="CBD5E1"/>
            </a:solidFill>
            <a:prstDash val="solid"/>
          </a:ln>
        </p:spPr>
        <p:txBody>
          <a:bodyPr/>
          <a:lstStyle/>
          <a:p>
            <a:endParaRPr lang="en-US"/>
          </a:p>
        </p:txBody>
      </p:sp>
      <p:sp>
        <p:nvSpPr>
          <p:cNvPr id="6" name="Rectangle 5">
            <a:extLst>
              <a:ext uri="{FF2B5EF4-FFF2-40B4-BE49-F238E27FC236}">
                <a16:creationId xmlns:a16="http://schemas.microsoft.com/office/drawing/2014/main" id="{58AA69BE-7EE6-4754-A55C-3F48B1E4B8E7}"/>
              </a:ext>
            </a:extLst>
          </p:cNvPr>
          <p:cNvSpPr>
            <a:spLocks noGrp="1"/>
          </p:cNvSpPr>
          <p:nvPr/>
        </p:nvSpPr>
        <p:spPr>
          <a:xfrm>
            <a:off x="933450" y="1905000"/>
            <a:ext cx="3333750" cy="361950"/>
          </a:xfrm>
          <a:prstGeom prst="rect">
            <a:avLst/>
          </a:prstGeom>
          <a:noFill/>
          <a:ln w="0">
            <a:noFill/>
            <a:prstDash val="solid"/>
          </a:ln>
        </p:spPr>
        <p:txBody>
          <a:bodyPr anchor="t">
            <a:normAutofit/>
          </a:bodyPr>
          <a:lstStyle/>
          <a:p>
            <a:pPr algn="l">
              <a:defRPr sz="1650" b="1">
                <a:solidFill>
                  <a:srgbClr val="003B66"/>
                </a:solidFill>
                <a:latin typeface="Arial"/>
                <a:ea typeface="Arial"/>
                <a:cs typeface="Arial"/>
              </a:defRPr>
            </a:pPr>
            <a:r>
              <a:rPr sz="1650" b="1">
                <a:solidFill>
                  <a:srgbClr val="003B66"/>
                </a:solidFill>
                <a:latin typeface="Arial"/>
                <a:ea typeface="Arial"/>
                <a:cs typeface="Arial"/>
              </a:rPr>
              <a:t>Department Form + Approval</a:t>
            </a:r>
          </a:p>
        </p:txBody>
      </p:sp>
      <p:sp>
        <p:nvSpPr>
          <p:cNvPr id="7" name="Rectangle 6">
            <a:extLst>
              <a:ext uri="{FF2B5EF4-FFF2-40B4-BE49-F238E27FC236}">
                <a16:creationId xmlns:a16="http://schemas.microsoft.com/office/drawing/2014/main" id="{6B4DF287-FE06-4236-AAC6-42DD92806832}"/>
              </a:ext>
            </a:extLst>
          </p:cNvPr>
          <p:cNvSpPr>
            <a:spLocks noGrp="1"/>
          </p:cNvSpPr>
          <p:nvPr/>
        </p:nvSpPr>
        <p:spPr>
          <a:xfrm>
            <a:off x="4667250" y="1905000"/>
            <a:ext cx="6000750" cy="400050"/>
          </a:xfrm>
          <a:prstGeom prst="rect">
            <a:avLst/>
          </a:prstGeom>
          <a:noFill/>
          <a:ln w="0">
            <a:noFill/>
            <a:prstDash val="solid"/>
          </a:ln>
        </p:spPr>
        <p:txBody>
          <a:bodyPr anchor="t">
            <a:normAutofit/>
          </a:bodyPr>
          <a:lstStyle/>
          <a:p>
            <a:pPr algn="l">
              <a:defRPr sz="1500" b="0">
                <a:solidFill>
                  <a:srgbClr val="52606D"/>
                </a:solidFill>
                <a:latin typeface="Arial"/>
                <a:ea typeface="Arial"/>
                <a:cs typeface="Arial"/>
              </a:defRPr>
            </a:pPr>
            <a:r>
              <a:rPr sz="1500" b="0">
                <a:solidFill>
                  <a:srgbClr val="52606D"/>
                </a:solidFill>
                <a:latin typeface="Arial"/>
                <a:ea typeface="Arial"/>
                <a:cs typeface="Arial"/>
              </a:rPr>
              <a:t>A structured request, review, and searchable record</a:t>
            </a:r>
          </a:p>
        </p:txBody>
      </p:sp>
      <p:sp>
        <p:nvSpPr>
          <p:cNvPr id="8" name="Rectangle 7">
            <a:extLst>
              <a:ext uri="{FF2B5EF4-FFF2-40B4-BE49-F238E27FC236}">
                <a16:creationId xmlns:a16="http://schemas.microsoft.com/office/drawing/2014/main" id="{9648458D-BF48-4866-AA5A-54086FDCEFC4}"/>
              </a:ext>
            </a:extLst>
          </p:cNvPr>
          <p:cNvSpPr>
            <a:spLocks noGrp="1"/>
          </p:cNvSpPr>
          <p:nvPr/>
        </p:nvSpPr>
        <p:spPr>
          <a:xfrm>
            <a:off x="685800" y="2733675"/>
            <a:ext cx="10382250" cy="733425"/>
          </a:xfrm>
          <a:prstGeom prst="rect">
            <a:avLst/>
          </a:prstGeom>
          <a:solidFill>
            <a:srgbClr val="F4F7FA"/>
          </a:solidFill>
          <a:ln w="9525">
            <a:solidFill>
              <a:srgbClr val="CBD5E1"/>
            </a:solidFill>
            <a:prstDash val="solid"/>
          </a:ln>
        </p:spPr>
        <p:txBody>
          <a:bodyPr/>
          <a:lstStyle/>
          <a:p>
            <a:endParaRPr lang="en-US"/>
          </a:p>
        </p:txBody>
      </p:sp>
      <p:sp>
        <p:nvSpPr>
          <p:cNvPr id="9" name="Rectangle 8">
            <a:extLst>
              <a:ext uri="{FF2B5EF4-FFF2-40B4-BE49-F238E27FC236}">
                <a16:creationId xmlns:a16="http://schemas.microsoft.com/office/drawing/2014/main" id="{A68C6ED2-88F5-40D9-8BD2-E67A7A17C3B3}"/>
              </a:ext>
            </a:extLst>
          </p:cNvPr>
          <p:cNvSpPr>
            <a:spLocks noGrp="1"/>
          </p:cNvSpPr>
          <p:nvPr/>
        </p:nvSpPr>
        <p:spPr>
          <a:xfrm>
            <a:off x="933450" y="2905125"/>
            <a:ext cx="3333750" cy="361950"/>
          </a:xfrm>
          <a:prstGeom prst="rect">
            <a:avLst/>
          </a:prstGeom>
          <a:noFill/>
          <a:ln w="0">
            <a:noFill/>
            <a:prstDash val="solid"/>
          </a:ln>
        </p:spPr>
        <p:txBody>
          <a:bodyPr anchor="t">
            <a:normAutofit/>
          </a:bodyPr>
          <a:lstStyle/>
          <a:p>
            <a:pPr algn="l">
              <a:defRPr sz="1650" b="1">
                <a:solidFill>
                  <a:srgbClr val="003B66"/>
                </a:solidFill>
                <a:latin typeface="Arial"/>
                <a:ea typeface="Arial"/>
                <a:cs typeface="Arial"/>
              </a:defRPr>
            </a:pPr>
            <a:r>
              <a:rPr sz="1650" b="1">
                <a:solidFill>
                  <a:srgbClr val="003B66"/>
                </a:solidFill>
                <a:latin typeface="Arial"/>
                <a:ea typeface="Arial"/>
                <a:cs typeface="Arial"/>
              </a:rPr>
              <a:t>Simple Data Tracker</a:t>
            </a:r>
          </a:p>
        </p:txBody>
      </p:sp>
      <p:sp>
        <p:nvSpPr>
          <p:cNvPr id="10" name="Rectangle 9">
            <a:extLst>
              <a:ext uri="{FF2B5EF4-FFF2-40B4-BE49-F238E27FC236}">
                <a16:creationId xmlns:a16="http://schemas.microsoft.com/office/drawing/2014/main" id="{DC909838-36A6-49D4-8081-BD6287515695}"/>
              </a:ext>
            </a:extLst>
          </p:cNvPr>
          <p:cNvSpPr>
            <a:spLocks noGrp="1"/>
          </p:cNvSpPr>
          <p:nvPr/>
        </p:nvSpPr>
        <p:spPr>
          <a:xfrm>
            <a:off x="4667250" y="2905125"/>
            <a:ext cx="6000750" cy="400050"/>
          </a:xfrm>
          <a:prstGeom prst="rect">
            <a:avLst/>
          </a:prstGeom>
          <a:noFill/>
          <a:ln w="0">
            <a:noFill/>
            <a:prstDash val="solid"/>
          </a:ln>
        </p:spPr>
        <p:txBody>
          <a:bodyPr anchor="t">
            <a:normAutofit/>
          </a:bodyPr>
          <a:lstStyle/>
          <a:p>
            <a:pPr algn="l">
              <a:defRPr sz="1500" b="0">
                <a:solidFill>
                  <a:srgbClr val="52606D"/>
                </a:solidFill>
                <a:latin typeface="Arial"/>
                <a:ea typeface="Arial"/>
                <a:cs typeface="Arial"/>
              </a:defRPr>
            </a:pPr>
            <a:r>
              <a:rPr sz="1500" b="0">
                <a:solidFill>
                  <a:srgbClr val="52606D"/>
                </a:solidFill>
                <a:latin typeface="Arial"/>
                <a:ea typeface="Arial"/>
                <a:cs typeface="Arial"/>
              </a:rPr>
              <a:t>Shared editing, filtering, and history for a team</a:t>
            </a:r>
          </a:p>
        </p:txBody>
      </p:sp>
      <p:sp>
        <p:nvSpPr>
          <p:cNvPr id="11" name="Rectangle 10">
            <a:extLst>
              <a:ext uri="{FF2B5EF4-FFF2-40B4-BE49-F238E27FC236}">
                <a16:creationId xmlns:a16="http://schemas.microsoft.com/office/drawing/2014/main" id="{8E8F3EA5-DCF2-4169-B56A-EFAAB31E4E69}"/>
              </a:ext>
            </a:extLst>
          </p:cNvPr>
          <p:cNvSpPr>
            <a:spLocks noGrp="1"/>
          </p:cNvSpPr>
          <p:nvPr/>
        </p:nvSpPr>
        <p:spPr>
          <a:xfrm>
            <a:off x="685800" y="3733800"/>
            <a:ext cx="10382250" cy="733425"/>
          </a:xfrm>
          <a:prstGeom prst="rect">
            <a:avLst/>
          </a:prstGeom>
          <a:solidFill>
            <a:srgbClr val="FFFFFF"/>
          </a:solidFill>
          <a:ln w="9525">
            <a:solidFill>
              <a:srgbClr val="CBD5E1"/>
            </a:solidFill>
            <a:prstDash val="solid"/>
          </a:ln>
        </p:spPr>
        <p:txBody>
          <a:bodyPr/>
          <a:lstStyle/>
          <a:p>
            <a:endParaRPr lang="en-US"/>
          </a:p>
        </p:txBody>
      </p:sp>
      <p:sp>
        <p:nvSpPr>
          <p:cNvPr id="12" name="Rectangle 11">
            <a:extLst>
              <a:ext uri="{FF2B5EF4-FFF2-40B4-BE49-F238E27FC236}">
                <a16:creationId xmlns:a16="http://schemas.microsoft.com/office/drawing/2014/main" id="{0070D4C9-B3C2-48C9-AAEB-BE31FC9A25FA}"/>
              </a:ext>
            </a:extLst>
          </p:cNvPr>
          <p:cNvSpPr>
            <a:spLocks noGrp="1"/>
          </p:cNvSpPr>
          <p:nvPr/>
        </p:nvSpPr>
        <p:spPr>
          <a:xfrm>
            <a:off x="933450" y="3905250"/>
            <a:ext cx="3333750" cy="361950"/>
          </a:xfrm>
          <a:prstGeom prst="rect">
            <a:avLst/>
          </a:prstGeom>
          <a:noFill/>
          <a:ln w="0">
            <a:noFill/>
            <a:prstDash val="solid"/>
          </a:ln>
        </p:spPr>
        <p:txBody>
          <a:bodyPr anchor="t">
            <a:normAutofit/>
          </a:bodyPr>
          <a:lstStyle/>
          <a:p>
            <a:pPr algn="l">
              <a:defRPr sz="1650" b="1">
                <a:solidFill>
                  <a:srgbClr val="003B66"/>
                </a:solidFill>
                <a:latin typeface="Arial"/>
                <a:ea typeface="Arial"/>
                <a:cs typeface="Arial"/>
              </a:defRPr>
            </a:pPr>
            <a:r>
              <a:rPr sz="1650" b="1">
                <a:solidFill>
                  <a:srgbClr val="003B66"/>
                </a:solidFill>
                <a:latin typeface="Arial"/>
                <a:ea typeface="Arial"/>
                <a:cs typeface="Arial"/>
              </a:rPr>
              <a:t>Public Information Page</a:t>
            </a:r>
          </a:p>
        </p:txBody>
      </p:sp>
      <p:sp>
        <p:nvSpPr>
          <p:cNvPr id="13" name="Rectangle 12">
            <a:extLst>
              <a:ext uri="{FF2B5EF4-FFF2-40B4-BE49-F238E27FC236}">
                <a16:creationId xmlns:a16="http://schemas.microsoft.com/office/drawing/2014/main" id="{649472EE-DFA0-4314-A8E4-C6C300EFCCB5}"/>
              </a:ext>
            </a:extLst>
          </p:cNvPr>
          <p:cNvSpPr>
            <a:spLocks noGrp="1"/>
          </p:cNvSpPr>
          <p:nvPr/>
        </p:nvSpPr>
        <p:spPr>
          <a:xfrm>
            <a:off x="4667250" y="3905250"/>
            <a:ext cx="6000750" cy="400050"/>
          </a:xfrm>
          <a:prstGeom prst="rect">
            <a:avLst/>
          </a:prstGeom>
          <a:noFill/>
          <a:ln w="0">
            <a:noFill/>
            <a:prstDash val="solid"/>
          </a:ln>
        </p:spPr>
        <p:txBody>
          <a:bodyPr anchor="t">
            <a:normAutofit/>
          </a:bodyPr>
          <a:lstStyle/>
          <a:p>
            <a:pPr algn="l">
              <a:defRPr sz="1500" b="0">
                <a:solidFill>
                  <a:srgbClr val="52606D"/>
                </a:solidFill>
                <a:latin typeface="Arial"/>
                <a:ea typeface="Arial"/>
                <a:cs typeface="Arial"/>
              </a:defRPr>
            </a:pPr>
            <a:r>
              <a:rPr sz="1500" b="0">
                <a:solidFill>
                  <a:srgbClr val="52606D"/>
                </a:solidFill>
                <a:latin typeface="Arial"/>
                <a:ea typeface="Arial"/>
                <a:cs typeface="Arial"/>
              </a:rPr>
              <a:t>A polished information site without logins or stored data</a:t>
            </a:r>
          </a:p>
        </p:txBody>
      </p:sp>
      <p:sp>
        <p:nvSpPr>
          <p:cNvPr id="14" name="Rectangle 13">
            <a:extLst>
              <a:ext uri="{FF2B5EF4-FFF2-40B4-BE49-F238E27FC236}">
                <a16:creationId xmlns:a16="http://schemas.microsoft.com/office/drawing/2014/main" id="{F3B9DE6F-2EC9-4983-9BB1-6441E00A2F14}"/>
              </a:ext>
            </a:extLst>
          </p:cNvPr>
          <p:cNvSpPr>
            <a:spLocks noGrp="1"/>
          </p:cNvSpPr>
          <p:nvPr/>
        </p:nvSpPr>
        <p:spPr>
          <a:xfrm>
            <a:off x="685800" y="4733925"/>
            <a:ext cx="10382250" cy="733425"/>
          </a:xfrm>
          <a:prstGeom prst="rect">
            <a:avLst/>
          </a:prstGeom>
          <a:solidFill>
            <a:srgbClr val="F4F7FA"/>
          </a:solidFill>
          <a:ln w="9525">
            <a:solidFill>
              <a:srgbClr val="CBD5E1"/>
            </a:solidFill>
            <a:prstDash val="solid"/>
          </a:ln>
        </p:spPr>
        <p:txBody>
          <a:bodyPr/>
          <a:lstStyle/>
          <a:p>
            <a:endParaRPr lang="en-US"/>
          </a:p>
        </p:txBody>
      </p:sp>
      <p:sp>
        <p:nvSpPr>
          <p:cNvPr id="15" name="Rectangle 14">
            <a:extLst>
              <a:ext uri="{FF2B5EF4-FFF2-40B4-BE49-F238E27FC236}">
                <a16:creationId xmlns:a16="http://schemas.microsoft.com/office/drawing/2014/main" id="{C6D75897-4F3D-46AE-9FBF-E07A6AE795DF}"/>
              </a:ext>
            </a:extLst>
          </p:cNvPr>
          <p:cNvSpPr>
            <a:spLocks noGrp="1"/>
          </p:cNvSpPr>
          <p:nvPr/>
        </p:nvSpPr>
        <p:spPr>
          <a:xfrm>
            <a:off x="933450" y="4905375"/>
            <a:ext cx="3333750" cy="361950"/>
          </a:xfrm>
          <a:prstGeom prst="rect">
            <a:avLst/>
          </a:prstGeom>
          <a:noFill/>
          <a:ln w="0">
            <a:noFill/>
            <a:prstDash val="solid"/>
          </a:ln>
        </p:spPr>
        <p:txBody>
          <a:bodyPr anchor="t">
            <a:normAutofit/>
          </a:bodyPr>
          <a:lstStyle/>
          <a:p>
            <a:pPr algn="l">
              <a:defRPr sz="1650" b="1">
                <a:solidFill>
                  <a:srgbClr val="003B66"/>
                </a:solidFill>
                <a:latin typeface="Arial"/>
                <a:ea typeface="Arial"/>
                <a:cs typeface="Arial"/>
              </a:defRPr>
            </a:pPr>
            <a:r>
              <a:rPr sz="1650" b="1">
                <a:solidFill>
                  <a:srgbClr val="003B66"/>
                </a:solidFill>
                <a:latin typeface="Arial"/>
                <a:ea typeface="Arial"/>
                <a:cs typeface="Arial"/>
              </a:rPr>
              <a:t>Custom Web App / API</a:t>
            </a:r>
          </a:p>
        </p:txBody>
      </p:sp>
      <p:sp>
        <p:nvSpPr>
          <p:cNvPr id="16" name="Rectangle 15">
            <a:extLst>
              <a:ext uri="{FF2B5EF4-FFF2-40B4-BE49-F238E27FC236}">
                <a16:creationId xmlns:a16="http://schemas.microsoft.com/office/drawing/2014/main" id="{3D074367-1D55-4398-BB22-BAB58E74450E}"/>
              </a:ext>
            </a:extLst>
          </p:cNvPr>
          <p:cNvSpPr>
            <a:spLocks noGrp="1"/>
          </p:cNvSpPr>
          <p:nvPr/>
        </p:nvSpPr>
        <p:spPr>
          <a:xfrm>
            <a:off x="4667250" y="4905375"/>
            <a:ext cx="6000750" cy="400050"/>
          </a:xfrm>
          <a:prstGeom prst="rect">
            <a:avLst/>
          </a:prstGeom>
          <a:noFill/>
          <a:ln w="0">
            <a:noFill/>
            <a:prstDash val="solid"/>
          </a:ln>
        </p:spPr>
        <p:txBody>
          <a:bodyPr anchor="t">
            <a:normAutofit/>
          </a:bodyPr>
          <a:lstStyle/>
          <a:p>
            <a:pPr algn="l">
              <a:defRPr sz="1500" b="0">
                <a:solidFill>
                  <a:srgbClr val="52606D"/>
                </a:solidFill>
                <a:latin typeface="Arial"/>
                <a:ea typeface="Arial"/>
                <a:cs typeface="Arial"/>
              </a:defRPr>
            </a:pPr>
            <a:r>
              <a:rPr sz="1500" b="0">
                <a:solidFill>
                  <a:srgbClr val="52606D"/>
                </a:solidFill>
                <a:latin typeface="Arial"/>
                <a:ea typeface="Arial"/>
                <a:cs typeface="Arial"/>
              </a:rPr>
              <a:t>A technical starting point when an architecture is already known</a:t>
            </a:r>
          </a:p>
        </p:txBody>
      </p:sp>
      <p:sp>
        <p:nvSpPr>
          <p:cNvPr id="17" name="Rectangle 16">
            <a:extLst>
              <a:ext uri="{FF2B5EF4-FFF2-40B4-BE49-F238E27FC236}">
                <a16:creationId xmlns:a16="http://schemas.microsoft.com/office/drawing/2014/main" id="{673AAE3B-F44A-4065-A0ED-2ED17F28CEC3}"/>
              </a:ext>
            </a:extLst>
          </p:cNvPr>
          <p:cNvSpPr>
            <a:spLocks noGrp="1"/>
          </p:cNvSpPr>
          <p:nvPr/>
        </p:nvSpPr>
        <p:spPr>
          <a:xfrm>
            <a:off x="0" y="6705600"/>
            <a:ext cx="12192000" cy="152400"/>
          </a:xfrm>
          <a:prstGeom prst="rect">
            <a:avLst/>
          </a:prstGeom>
          <a:solidFill>
            <a:srgbClr val="003B66"/>
          </a:solidFill>
          <a:ln w="0">
            <a:noFill/>
            <a:prstDash val="solid"/>
          </a:ln>
        </p:spPr>
        <p:txBody>
          <a:bodyPr/>
          <a:lstStyle/>
          <a:p>
            <a:endParaRPr lang="en-US"/>
          </a:p>
        </p:txBody>
      </p:sp>
    </p:spTree>
    <p:extLst>
      <p:ext uri="{BB962C8B-B14F-4D97-AF65-F5344CB8AC3E}">
        <p14:creationId xmlns:p14="http://schemas.microsoft.com/office/powerpoint/2010/main" val="253428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482234B2-C20B-4861-8605-69F4231C59AF}"/>
              </a:ext>
            </a:extLst>
          </p:cNvPr>
          <p:cNvSpPr>
            <a:spLocks noGrp="1"/>
          </p:cNvSpPr>
          <p:nvPr/>
        </p:nvSpPr>
        <p:spPr>
          <a:xfrm>
            <a:off x="685800" y="304800"/>
            <a:ext cx="5715000" cy="209550"/>
          </a:xfrm>
          <a:prstGeom prst="rect">
            <a:avLst/>
          </a:prstGeom>
          <a:noFill/>
          <a:ln w="0">
            <a:noFill/>
            <a:prstDash val="solid"/>
          </a:ln>
        </p:spPr>
        <p:txBody>
          <a:bodyPr anchor="t">
            <a:normAutofit fontScale="86111" lnSpcReduction="10000"/>
          </a:bodyPr>
          <a:lstStyle/>
          <a:p>
            <a:pPr algn="l">
              <a:defRPr sz="900" b="1">
                <a:solidFill>
                  <a:srgbClr val="005A9C"/>
                </a:solidFill>
                <a:latin typeface="Arial"/>
                <a:ea typeface="Arial"/>
                <a:cs typeface="Arial"/>
              </a:defRPr>
            </a:pPr>
            <a:r>
              <a:rPr sz="900" b="1">
                <a:solidFill>
                  <a:srgbClr val="005A9C"/>
                </a:solidFill>
                <a:latin typeface="Arial"/>
                <a:ea typeface="Arial"/>
                <a:cs typeface="Arial"/>
              </a:rPr>
              <a:t>CEDARVILLE APP PORTAL</a:t>
            </a:r>
          </a:p>
        </p:txBody>
      </p:sp>
      <p:sp>
        <p:nvSpPr>
          <p:cNvPr id="2" name="Rectangle 1">
            <a:extLst>
              <a:ext uri="{FF2B5EF4-FFF2-40B4-BE49-F238E27FC236}">
                <a16:creationId xmlns:a16="http://schemas.microsoft.com/office/drawing/2014/main" id="{7FEC39C2-B38E-4F86-8A37-0BAC5E6C64F8}"/>
              </a:ext>
            </a:extLst>
          </p:cNvPr>
          <p:cNvSpPr>
            <a:spLocks noGrp="1"/>
          </p:cNvSpPr>
          <p:nvPr/>
        </p:nvSpPr>
        <p:spPr>
          <a:xfrm>
            <a:off x="685799" y="647700"/>
            <a:ext cx="10429875" cy="600075"/>
          </a:xfrm>
          <a:prstGeom prst="rect">
            <a:avLst/>
          </a:prstGeom>
          <a:noFill/>
          <a:ln w="0">
            <a:noFill/>
            <a:prstDash val="solid"/>
          </a:ln>
        </p:spPr>
        <p:txBody>
          <a:bodyPr anchor="t">
            <a:normAutofit fontScale="95117"/>
          </a:bodyPr>
          <a:lstStyle/>
          <a:p>
            <a:pPr algn="l">
              <a:defRPr sz="2850" b="1">
                <a:solidFill>
                  <a:srgbClr val="102A43"/>
                </a:solidFill>
                <a:latin typeface="Arial"/>
                <a:ea typeface="Arial"/>
                <a:cs typeface="Arial"/>
              </a:defRPr>
            </a:pPr>
            <a:r>
              <a:rPr sz="2400" b="1" dirty="0">
                <a:solidFill>
                  <a:srgbClr val="102A43"/>
                </a:solidFill>
                <a:latin typeface="Arial"/>
                <a:ea typeface="Arial"/>
                <a:cs typeface="Arial"/>
              </a:rPr>
              <a:t>Choose data and login options based on what the app needs</a:t>
            </a:r>
          </a:p>
        </p:txBody>
      </p:sp>
      <p:sp>
        <p:nvSpPr>
          <p:cNvPr id="3" name="Rectangle 2">
            <a:extLst>
              <a:ext uri="{FF2B5EF4-FFF2-40B4-BE49-F238E27FC236}">
                <a16:creationId xmlns:a16="http://schemas.microsoft.com/office/drawing/2014/main" id="{E3583C73-0003-4E46-B0B8-887E7D9E97B7}"/>
              </a:ext>
            </a:extLst>
          </p:cNvPr>
          <p:cNvSpPr>
            <a:spLocks noGrp="1"/>
          </p:cNvSpPr>
          <p:nvPr/>
        </p:nvSpPr>
        <p:spPr>
          <a:xfrm>
            <a:off x="685800" y="1285875"/>
            <a:ext cx="10820400" cy="28575"/>
          </a:xfrm>
          <a:prstGeom prst="rect">
            <a:avLst/>
          </a:prstGeom>
          <a:solidFill>
            <a:srgbClr val="FBBF24"/>
          </a:solidFill>
          <a:ln w="0">
            <a:noFill/>
            <a:prstDash val="solid"/>
          </a:ln>
        </p:spPr>
        <p:txBody>
          <a:bodyPr/>
          <a:lstStyle/>
          <a:p>
            <a:endParaRPr lang="en-US"/>
          </a:p>
        </p:txBody>
      </p:sp>
      <p:sp>
        <p:nvSpPr>
          <p:cNvPr id="4" name="Rectangle 3">
            <a:extLst>
              <a:ext uri="{FF2B5EF4-FFF2-40B4-BE49-F238E27FC236}">
                <a16:creationId xmlns:a16="http://schemas.microsoft.com/office/drawing/2014/main" id="{5AFCD188-9D7C-4E66-A69D-B7E552071D34}"/>
              </a:ext>
            </a:extLst>
          </p:cNvPr>
          <p:cNvSpPr>
            <a:spLocks noGrp="1"/>
          </p:cNvSpPr>
          <p:nvPr/>
        </p:nvSpPr>
        <p:spPr>
          <a:xfrm>
            <a:off x="10839450" y="333375"/>
            <a:ext cx="666750" cy="228600"/>
          </a:xfrm>
          <a:prstGeom prst="rect">
            <a:avLst/>
          </a:prstGeom>
          <a:noFill/>
          <a:ln w="0">
            <a:noFill/>
            <a:prstDash val="solid"/>
          </a:ln>
        </p:spPr>
        <p:txBody>
          <a:bodyPr anchor="t">
            <a:normAutofit fontScale="93214" lnSpcReduction="10000"/>
          </a:bodyPr>
          <a:lstStyle/>
          <a:p>
            <a:pPr algn="r">
              <a:defRPr sz="1050" b="0">
                <a:solidFill>
                  <a:srgbClr val="52606D"/>
                </a:solidFill>
                <a:latin typeface="Arial"/>
                <a:ea typeface="Arial"/>
                <a:cs typeface="Arial"/>
              </a:defRPr>
            </a:pPr>
            <a:r>
              <a:rPr sz="1050" b="0">
                <a:solidFill>
                  <a:srgbClr val="52606D"/>
                </a:solidFill>
                <a:latin typeface="Arial"/>
                <a:ea typeface="Arial"/>
                <a:cs typeface="Arial"/>
              </a:rPr>
              <a:t>07</a:t>
            </a:r>
          </a:p>
        </p:txBody>
      </p:sp>
      <p:sp>
        <p:nvSpPr>
          <p:cNvPr id="5" name="Rectangle 4">
            <a:extLst>
              <a:ext uri="{FF2B5EF4-FFF2-40B4-BE49-F238E27FC236}">
                <a16:creationId xmlns:a16="http://schemas.microsoft.com/office/drawing/2014/main" id="{EDE2C2E8-D2E2-4497-B4B8-479F6726A07A}"/>
              </a:ext>
            </a:extLst>
          </p:cNvPr>
          <p:cNvSpPr>
            <a:spLocks noGrp="1"/>
          </p:cNvSpPr>
          <p:nvPr/>
        </p:nvSpPr>
        <p:spPr>
          <a:xfrm>
            <a:off x="685800" y="2000250"/>
            <a:ext cx="4953000" cy="2571750"/>
          </a:xfrm>
          <a:prstGeom prst="rect">
            <a:avLst/>
          </a:prstGeom>
          <a:solidFill>
            <a:srgbClr val="F4F7FA"/>
          </a:solidFill>
          <a:ln w="9525">
            <a:solidFill>
              <a:srgbClr val="CBD5E1"/>
            </a:solidFill>
            <a:prstDash val="solid"/>
          </a:ln>
        </p:spPr>
        <p:txBody>
          <a:bodyPr/>
          <a:lstStyle/>
          <a:p>
            <a:endParaRPr lang="en-US"/>
          </a:p>
        </p:txBody>
      </p:sp>
      <p:sp>
        <p:nvSpPr>
          <p:cNvPr id="6" name="Rectangle 5">
            <a:extLst>
              <a:ext uri="{FF2B5EF4-FFF2-40B4-BE49-F238E27FC236}">
                <a16:creationId xmlns:a16="http://schemas.microsoft.com/office/drawing/2014/main" id="{37C729FD-A19E-46AC-B719-AF81D166B0B6}"/>
              </a:ext>
            </a:extLst>
          </p:cNvPr>
          <p:cNvSpPr>
            <a:spLocks noGrp="1"/>
          </p:cNvSpPr>
          <p:nvPr/>
        </p:nvSpPr>
        <p:spPr>
          <a:xfrm>
            <a:off x="1000125" y="2324100"/>
            <a:ext cx="3810000" cy="361950"/>
          </a:xfrm>
          <a:prstGeom prst="rect">
            <a:avLst/>
          </a:prstGeom>
          <a:noFill/>
          <a:ln w="0">
            <a:noFill/>
            <a:prstDash val="solid"/>
          </a:ln>
        </p:spPr>
        <p:txBody>
          <a:bodyPr anchor="t">
            <a:normAutofit fontScale="84524" lnSpcReduction="10000"/>
          </a:bodyPr>
          <a:lstStyle/>
          <a:p>
            <a:pPr algn="l">
              <a:defRPr sz="2100" b="1">
                <a:solidFill>
                  <a:srgbClr val="003B66"/>
                </a:solidFill>
                <a:latin typeface="Arial"/>
                <a:ea typeface="Arial"/>
                <a:cs typeface="Arial"/>
              </a:defRPr>
            </a:pPr>
            <a:r>
              <a:rPr sz="2100" b="1">
                <a:solidFill>
                  <a:srgbClr val="003B66"/>
                </a:solidFill>
                <a:latin typeface="Arial"/>
                <a:ea typeface="Arial"/>
                <a:cs typeface="Arial"/>
              </a:rPr>
              <a:t>Use a database when…</a:t>
            </a:r>
          </a:p>
        </p:txBody>
      </p:sp>
      <p:sp>
        <p:nvSpPr>
          <p:cNvPr id="7" name="Oval 6">
            <a:extLst>
              <a:ext uri="{FF2B5EF4-FFF2-40B4-BE49-F238E27FC236}">
                <a16:creationId xmlns:a16="http://schemas.microsoft.com/office/drawing/2014/main" id="{EB636126-F3C1-4AE1-B68D-B8D1EB127271}"/>
              </a:ext>
            </a:extLst>
          </p:cNvPr>
          <p:cNvSpPr>
            <a:spLocks noGrp="1"/>
          </p:cNvSpPr>
          <p:nvPr/>
        </p:nvSpPr>
        <p:spPr>
          <a:xfrm>
            <a:off x="1028700" y="3095625"/>
            <a:ext cx="114300" cy="114300"/>
          </a:xfrm>
          <a:prstGeom prst="ellipse">
            <a:avLst/>
          </a:prstGeom>
          <a:solidFill>
            <a:srgbClr val="FBBF24"/>
          </a:solidFill>
          <a:ln w="0">
            <a:noFill/>
            <a:prstDash val="solid"/>
          </a:ln>
        </p:spPr>
        <p:txBody>
          <a:bodyPr/>
          <a:lstStyle/>
          <a:p>
            <a:endParaRPr lang="en-US"/>
          </a:p>
        </p:txBody>
      </p:sp>
      <p:sp>
        <p:nvSpPr>
          <p:cNvPr id="8" name="Rectangle 7">
            <a:extLst>
              <a:ext uri="{FF2B5EF4-FFF2-40B4-BE49-F238E27FC236}">
                <a16:creationId xmlns:a16="http://schemas.microsoft.com/office/drawing/2014/main" id="{B145B4C2-CBF7-4AD4-B5D3-250C282A8953}"/>
              </a:ext>
            </a:extLst>
          </p:cNvPr>
          <p:cNvSpPr>
            <a:spLocks noGrp="1"/>
          </p:cNvSpPr>
          <p:nvPr/>
        </p:nvSpPr>
        <p:spPr>
          <a:xfrm>
            <a:off x="1295400" y="3000375"/>
            <a:ext cx="3829050" cy="657225"/>
          </a:xfrm>
          <a:prstGeom prst="rect">
            <a:avLst/>
          </a:prstGeom>
          <a:noFill/>
          <a:ln w="0">
            <a:noFill/>
            <a:prstDash val="solid"/>
          </a:ln>
        </p:spPr>
        <p:txBody>
          <a:bodyPr anchor="t">
            <a:normAutofit/>
          </a:bodyPr>
          <a:lstStyle/>
          <a:p>
            <a:pPr algn="l">
              <a:defRPr sz="1425" b="0">
                <a:solidFill>
                  <a:srgbClr val="102A43"/>
                </a:solidFill>
                <a:latin typeface="Arial"/>
                <a:ea typeface="Arial"/>
                <a:cs typeface="Arial"/>
              </a:defRPr>
            </a:pPr>
            <a:r>
              <a:rPr sz="1425" b="0">
                <a:solidFill>
                  <a:srgbClr val="102A43"/>
                </a:solidFill>
                <a:latin typeface="Arial"/>
                <a:ea typeface="Arial"/>
                <a:cs typeface="Arial"/>
              </a:rPr>
              <a:t>The app must save entries, records, or history.</a:t>
            </a:r>
          </a:p>
        </p:txBody>
      </p:sp>
      <p:sp>
        <p:nvSpPr>
          <p:cNvPr id="9" name="Oval 8">
            <a:extLst>
              <a:ext uri="{FF2B5EF4-FFF2-40B4-BE49-F238E27FC236}">
                <a16:creationId xmlns:a16="http://schemas.microsoft.com/office/drawing/2014/main" id="{341483D1-B7A2-4A25-AAD0-2F5FD8A6924B}"/>
              </a:ext>
            </a:extLst>
          </p:cNvPr>
          <p:cNvSpPr>
            <a:spLocks noGrp="1"/>
          </p:cNvSpPr>
          <p:nvPr/>
        </p:nvSpPr>
        <p:spPr>
          <a:xfrm>
            <a:off x="1028700" y="3800475"/>
            <a:ext cx="114300" cy="114300"/>
          </a:xfrm>
          <a:prstGeom prst="ellipse">
            <a:avLst/>
          </a:prstGeom>
          <a:solidFill>
            <a:srgbClr val="FBBF24"/>
          </a:solidFill>
          <a:ln w="0">
            <a:noFill/>
            <a:prstDash val="solid"/>
          </a:ln>
        </p:spPr>
        <p:txBody>
          <a:bodyPr/>
          <a:lstStyle/>
          <a:p>
            <a:endParaRPr lang="en-US"/>
          </a:p>
        </p:txBody>
      </p:sp>
      <p:sp>
        <p:nvSpPr>
          <p:cNvPr id="10" name="Rectangle 9">
            <a:extLst>
              <a:ext uri="{FF2B5EF4-FFF2-40B4-BE49-F238E27FC236}">
                <a16:creationId xmlns:a16="http://schemas.microsoft.com/office/drawing/2014/main" id="{1653146A-6D27-4085-9D3B-106BE8F8ECD1}"/>
              </a:ext>
            </a:extLst>
          </p:cNvPr>
          <p:cNvSpPr>
            <a:spLocks noGrp="1"/>
          </p:cNvSpPr>
          <p:nvPr/>
        </p:nvSpPr>
        <p:spPr>
          <a:xfrm>
            <a:off x="1295400" y="3705225"/>
            <a:ext cx="3829050" cy="657225"/>
          </a:xfrm>
          <a:prstGeom prst="rect">
            <a:avLst/>
          </a:prstGeom>
          <a:noFill/>
          <a:ln w="0">
            <a:noFill/>
            <a:prstDash val="solid"/>
          </a:ln>
        </p:spPr>
        <p:txBody>
          <a:bodyPr anchor="t">
            <a:normAutofit/>
          </a:bodyPr>
          <a:lstStyle/>
          <a:p>
            <a:pPr algn="l">
              <a:defRPr sz="1425" b="0">
                <a:solidFill>
                  <a:srgbClr val="102A43"/>
                </a:solidFill>
                <a:latin typeface="Arial"/>
                <a:ea typeface="Arial"/>
                <a:cs typeface="Arial"/>
              </a:defRPr>
            </a:pPr>
            <a:r>
              <a:rPr sz="1425" b="0">
                <a:solidFill>
                  <a:srgbClr val="102A43"/>
                </a:solidFill>
                <a:latin typeface="Arial"/>
                <a:ea typeface="Arial"/>
                <a:cs typeface="Arial"/>
              </a:rPr>
              <a:t>People need to search, filter, or update shared information.</a:t>
            </a:r>
          </a:p>
        </p:txBody>
      </p:sp>
      <p:sp>
        <p:nvSpPr>
          <p:cNvPr id="11" name="Rectangle 10">
            <a:extLst>
              <a:ext uri="{FF2B5EF4-FFF2-40B4-BE49-F238E27FC236}">
                <a16:creationId xmlns:a16="http://schemas.microsoft.com/office/drawing/2014/main" id="{60144399-ABE7-4C90-B86A-0A3D8576CB9A}"/>
              </a:ext>
            </a:extLst>
          </p:cNvPr>
          <p:cNvSpPr>
            <a:spLocks noGrp="1"/>
          </p:cNvSpPr>
          <p:nvPr/>
        </p:nvSpPr>
        <p:spPr>
          <a:xfrm>
            <a:off x="6515100" y="2000250"/>
            <a:ext cx="4953000" cy="2571750"/>
          </a:xfrm>
          <a:prstGeom prst="rect">
            <a:avLst/>
          </a:prstGeom>
          <a:solidFill>
            <a:srgbClr val="E8F4FB"/>
          </a:solidFill>
          <a:ln w="9525">
            <a:solidFill>
              <a:srgbClr val="CBD5E1"/>
            </a:solidFill>
            <a:prstDash val="solid"/>
          </a:ln>
        </p:spPr>
        <p:txBody>
          <a:bodyPr/>
          <a:lstStyle/>
          <a:p>
            <a:endParaRPr lang="en-US"/>
          </a:p>
        </p:txBody>
      </p:sp>
      <p:sp>
        <p:nvSpPr>
          <p:cNvPr id="12" name="Rectangle 11">
            <a:extLst>
              <a:ext uri="{FF2B5EF4-FFF2-40B4-BE49-F238E27FC236}">
                <a16:creationId xmlns:a16="http://schemas.microsoft.com/office/drawing/2014/main" id="{2CFC264D-F260-437E-9501-6F5CE6504124}"/>
              </a:ext>
            </a:extLst>
          </p:cNvPr>
          <p:cNvSpPr>
            <a:spLocks noGrp="1"/>
          </p:cNvSpPr>
          <p:nvPr/>
        </p:nvSpPr>
        <p:spPr>
          <a:xfrm>
            <a:off x="6829425" y="2324100"/>
            <a:ext cx="4095750" cy="361950"/>
          </a:xfrm>
          <a:prstGeom prst="rect">
            <a:avLst/>
          </a:prstGeom>
          <a:noFill/>
          <a:ln w="0">
            <a:noFill/>
            <a:prstDash val="solid"/>
          </a:ln>
        </p:spPr>
        <p:txBody>
          <a:bodyPr anchor="t">
            <a:normAutofit fontScale="84524" lnSpcReduction="10000"/>
          </a:bodyPr>
          <a:lstStyle/>
          <a:p>
            <a:pPr algn="l">
              <a:defRPr sz="2100" b="1">
                <a:solidFill>
                  <a:srgbClr val="003B66"/>
                </a:solidFill>
                <a:latin typeface="Arial"/>
                <a:ea typeface="Arial"/>
                <a:cs typeface="Arial"/>
              </a:defRPr>
            </a:pPr>
            <a:r>
              <a:rPr sz="2100" b="1">
                <a:solidFill>
                  <a:srgbClr val="003B66"/>
                </a:solidFill>
                <a:latin typeface="Arial"/>
                <a:ea typeface="Arial"/>
                <a:cs typeface="Arial"/>
              </a:rPr>
              <a:t>Use Cedarville login when…</a:t>
            </a:r>
          </a:p>
        </p:txBody>
      </p:sp>
      <p:sp>
        <p:nvSpPr>
          <p:cNvPr id="13" name="Oval 12">
            <a:extLst>
              <a:ext uri="{FF2B5EF4-FFF2-40B4-BE49-F238E27FC236}">
                <a16:creationId xmlns:a16="http://schemas.microsoft.com/office/drawing/2014/main" id="{3F76A8BA-9DE6-4961-BD65-7E05A554EC57}"/>
              </a:ext>
            </a:extLst>
          </p:cNvPr>
          <p:cNvSpPr>
            <a:spLocks noGrp="1"/>
          </p:cNvSpPr>
          <p:nvPr/>
        </p:nvSpPr>
        <p:spPr>
          <a:xfrm>
            <a:off x="6858000" y="3095625"/>
            <a:ext cx="114300" cy="114300"/>
          </a:xfrm>
          <a:prstGeom prst="ellipse">
            <a:avLst/>
          </a:prstGeom>
          <a:solidFill>
            <a:srgbClr val="FBBF24"/>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C581E304-0FE4-45DA-98CD-520E0BD45853}"/>
              </a:ext>
            </a:extLst>
          </p:cNvPr>
          <p:cNvSpPr>
            <a:spLocks noGrp="1"/>
          </p:cNvSpPr>
          <p:nvPr/>
        </p:nvSpPr>
        <p:spPr>
          <a:xfrm>
            <a:off x="7124700" y="3000375"/>
            <a:ext cx="3829050" cy="657225"/>
          </a:xfrm>
          <a:prstGeom prst="rect">
            <a:avLst/>
          </a:prstGeom>
          <a:noFill/>
          <a:ln w="0">
            <a:noFill/>
            <a:prstDash val="solid"/>
          </a:ln>
        </p:spPr>
        <p:txBody>
          <a:bodyPr anchor="t">
            <a:normAutofit/>
          </a:bodyPr>
          <a:lstStyle/>
          <a:p>
            <a:pPr algn="l">
              <a:defRPr sz="1425" b="0">
                <a:solidFill>
                  <a:srgbClr val="102A43"/>
                </a:solidFill>
                <a:latin typeface="Arial"/>
                <a:ea typeface="Arial"/>
                <a:cs typeface="Arial"/>
              </a:defRPr>
            </a:pPr>
            <a:r>
              <a:rPr sz="1425" b="0">
                <a:solidFill>
                  <a:srgbClr val="102A43"/>
                </a:solidFill>
                <a:latin typeface="Arial"/>
                <a:ea typeface="Arial"/>
                <a:cs typeface="Arial"/>
              </a:rPr>
              <a:t>Only authorized Cedarville users should enter.</a:t>
            </a:r>
          </a:p>
        </p:txBody>
      </p:sp>
      <p:sp>
        <p:nvSpPr>
          <p:cNvPr id="15" name="Oval 14">
            <a:extLst>
              <a:ext uri="{FF2B5EF4-FFF2-40B4-BE49-F238E27FC236}">
                <a16:creationId xmlns:a16="http://schemas.microsoft.com/office/drawing/2014/main" id="{82006AF6-877F-437A-8694-EB74E278279F}"/>
              </a:ext>
            </a:extLst>
          </p:cNvPr>
          <p:cNvSpPr>
            <a:spLocks noGrp="1"/>
          </p:cNvSpPr>
          <p:nvPr/>
        </p:nvSpPr>
        <p:spPr>
          <a:xfrm>
            <a:off x="6858000" y="3800475"/>
            <a:ext cx="114300" cy="114300"/>
          </a:xfrm>
          <a:prstGeom prst="ellipse">
            <a:avLst/>
          </a:prstGeom>
          <a:solidFill>
            <a:srgbClr val="FBBF24"/>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8D30DB64-F51A-4085-B358-D1798929A557}"/>
              </a:ext>
            </a:extLst>
          </p:cNvPr>
          <p:cNvSpPr>
            <a:spLocks noGrp="1"/>
          </p:cNvSpPr>
          <p:nvPr/>
        </p:nvSpPr>
        <p:spPr>
          <a:xfrm>
            <a:off x="7124700" y="3705225"/>
            <a:ext cx="3829050" cy="657225"/>
          </a:xfrm>
          <a:prstGeom prst="rect">
            <a:avLst/>
          </a:prstGeom>
          <a:noFill/>
          <a:ln w="0">
            <a:noFill/>
            <a:prstDash val="solid"/>
          </a:ln>
        </p:spPr>
        <p:txBody>
          <a:bodyPr anchor="t">
            <a:normAutofit/>
          </a:bodyPr>
          <a:lstStyle/>
          <a:p>
            <a:pPr algn="l">
              <a:defRPr sz="1425" b="0">
                <a:solidFill>
                  <a:srgbClr val="102A43"/>
                </a:solidFill>
                <a:latin typeface="Arial"/>
                <a:ea typeface="Arial"/>
                <a:cs typeface="Arial"/>
              </a:defRPr>
            </a:pPr>
            <a:r>
              <a:rPr sz="1425" b="0">
                <a:solidFill>
                  <a:srgbClr val="102A43"/>
                </a:solidFill>
                <a:latin typeface="Arial"/>
                <a:ea typeface="Arial"/>
                <a:cs typeface="Arial"/>
              </a:rPr>
              <a:t>The app needs identity-aware access or staff-facing workflows.</a:t>
            </a:r>
          </a:p>
        </p:txBody>
      </p:sp>
      <p:sp>
        <p:nvSpPr>
          <p:cNvPr id="17" name="Rectangle 16">
            <a:extLst>
              <a:ext uri="{FF2B5EF4-FFF2-40B4-BE49-F238E27FC236}">
                <a16:creationId xmlns:a16="http://schemas.microsoft.com/office/drawing/2014/main" id="{8EDD978E-7DFC-49AA-8CA4-0C7EFC38ADC3}"/>
              </a:ext>
            </a:extLst>
          </p:cNvPr>
          <p:cNvSpPr>
            <a:spLocks noGrp="1"/>
          </p:cNvSpPr>
          <p:nvPr/>
        </p:nvSpPr>
        <p:spPr>
          <a:xfrm>
            <a:off x="1000125" y="5219700"/>
            <a:ext cx="9906000" cy="400050"/>
          </a:xfrm>
          <a:prstGeom prst="rect">
            <a:avLst/>
          </a:prstGeom>
          <a:noFill/>
          <a:ln w="0">
            <a:noFill/>
            <a:prstDash val="solid"/>
          </a:ln>
        </p:spPr>
        <p:txBody>
          <a:bodyPr anchor="t">
            <a:normAutofit/>
          </a:bodyPr>
          <a:lstStyle/>
          <a:p>
            <a:pPr algn="ctr">
              <a:defRPr sz="1800" b="1">
                <a:solidFill>
                  <a:srgbClr val="237A57"/>
                </a:solidFill>
                <a:latin typeface="Arial"/>
                <a:ea typeface="Arial"/>
                <a:cs typeface="Arial"/>
              </a:defRPr>
            </a:pPr>
            <a:r>
              <a:rPr sz="1800" b="1">
                <a:solidFill>
                  <a:srgbClr val="237A57"/>
                </a:solidFill>
                <a:latin typeface="Arial"/>
                <a:ea typeface="Arial"/>
                <a:cs typeface="Arial"/>
              </a:rPr>
              <a:t>Choose these features because the app needs them—not because they sound useful.</a:t>
            </a:r>
          </a:p>
        </p:txBody>
      </p:sp>
      <p:sp>
        <p:nvSpPr>
          <p:cNvPr id="18" name="Rectangle 17">
            <a:extLst>
              <a:ext uri="{FF2B5EF4-FFF2-40B4-BE49-F238E27FC236}">
                <a16:creationId xmlns:a16="http://schemas.microsoft.com/office/drawing/2014/main" id="{92AE83AD-8CA4-4029-BE38-68D0218EF31C}"/>
              </a:ext>
            </a:extLst>
          </p:cNvPr>
          <p:cNvSpPr>
            <a:spLocks noGrp="1"/>
          </p:cNvSpPr>
          <p:nvPr/>
        </p:nvSpPr>
        <p:spPr>
          <a:xfrm>
            <a:off x="0" y="6705600"/>
            <a:ext cx="12192000" cy="152400"/>
          </a:xfrm>
          <a:prstGeom prst="rect">
            <a:avLst/>
          </a:prstGeom>
          <a:solidFill>
            <a:srgbClr val="003B66"/>
          </a:solidFill>
          <a:ln w="0">
            <a:noFill/>
            <a:prstDash val="solid"/>
          </a:ln>
        </p:spPr>
        <p:txBody>
          <a:bodyPr/>
          <a:lstStyle/>
          <a:p>
            <a:endParaRPr lang="en-US"/>
          </a:p>
        </p:txBody>
      </p:sp>
    </p:spTree>
    <p:extLst>
      <p:ext uri="{BB962C8B-B14F-4D97-AF65-F5344CB8AC3E}">
        <p14:creationId xmlns:p14="http://schemas.microsoft.com/office/powerpoint/2010/main" val="2145938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92FA6E4-9128-4868-B05D-DB0549E78926}"/>
              </a:ext>
            </a:extLst>
          </p:cNvPr>
          <p:cNvSpPr>
            <a:spLocks noGrp="1"/>
          </p:cNvSpPr>
          <p:nvPr/>
        </p:nvSpPr>
        <p:spPr>
          <a:xfrm>
            <a:off x="685800" y="304800"/>
            <a:ext cx="5715000" cy="209550"/>
          </a:xfrm>
          <a:prstGeom prst="rect">
            <a:avLst/>
          </a:prstGeom>
          <a:noFill/>
          <a:ln w="0">
            <a:noFill/>
            <a:prstDash val="solid"/>
          </a:ln>
        </p:spPr>
        <p:txBody>
          <a:bodyPr anchor="t">
            <a:normAutofit fontScale="86111" lnSpcReduction="10000"/>
          </a:bodyPr>
          <a:lstStyle/>
          <a:p>
            <a:pPr algn="l">
              <a:defRPr sz="900" b="1">
                <a:solidFill>
                  <a:srgbClr val="005A9C"/>
                </a:solidFill>
                <a:latin typeface="Arial"/>
                <a:ea typeface="Arial"/>
                <a:cs typeface="Arial"/>
              </a:defRPr>
            </a:pPr>
            <a:r>
              <a:rPr sz="900" b="1">
                <a:solidFill>
                  <a:srgbClr val="005A9C"/>
                </a:solidFill>
                <a:latin typeface="Arial"/>
                <a:ea typeface="Arial"/>
                <a:cs typeface="Arial"/>
              </a:rPr>
              <a:t>CEDARVILLE APP PORTAL</a:t>
            </a:r>
          </a:p>
        </p:txBody>
      </p:sp>
      <p:sp>
        <p:nvSpPr>
          <p:cNvPr id="2" name="Rectangle 1">
            <a:extLst>
              <a:ext uri="{FF2B5EF4-FFF2-40B4-BE49-F238E27FC236}">
                <a16:creationId xmlns:a16="http://schemas.microsoft.com/office/drawing/2014/main" id="{F0603573-E96C-4121-A90D-FEF457ADE8D8}"/>
              </a:ext>
            </a:extLst>
          </p:cNvPr>
          <p:cNvSpPr>
            <a:spLocks noGrp="1"/>
          </p:cNvSpPr>
          <p:nvPr/>
        </p:nvSpPr>
        <p:spPr>
          <a:xfrm>
            <a:off x="685800" y="647700"/>
            <a:ext cx="9334500" cy="523875"/>
          </a:xfrm>
          <a:prstGeom prst="rect">
            <a:avLst/>
          </a:prstGeom>
          <a:noFill/>
          <a:ln w="0">
            <a:noFill/>
            <a:prstDash val="solid"/>
          </a:ln>
        </p:spPr>
        <p:txBody>
          <a:bodyPr anchor="t">
            <a:normAutofit fontScale="99561"/>
          </a:bodyPr>
          <a:lstStyle/>
          <a:p>
            <a:pPr algn="l">
              <a:defRPr sz="2850" b="1">
                <a:solidFill>
                  <a:srgbClr val="102A43"/>
                </a:solidFill>
                <a:latin typeface="Arial"/>
                <a:ea typeface="Arial"/>
                <a:cs typeface="Arial"/>
              </a:defRPr>
            </a:pPr>
            <a:r>
              <a:rPr sz="2400" b="1" dirty="0">
                <a:solidFill>
                  <a:srgbClr val="102A43"/>
                </a:solidFill>
                <a:latin typeface="Arial"/>
                <a:ea typeface="Arial"/>
                <a:cs typeface="Arial"/>
              </a:rPr>
              <a:t>When to choose Create Only or Create &amp; Publish</a:t>
            </a:r>
          </a:p>
        </p:txBody>
      </p:sp>
      <p:sp>
        <p:nvSpPr>
          <p:cNvPr id="3" name="Rectangle 2">
            <a:extLst>
              <a:ext uri="{FF2B5EF4-FFF2-40B4-BE49-F238E27FC236}">
                <a16:creationId xmlns:a16="http://schemas.microsoft.com/office/drawing/2014/main" id="{A5320747-0DC2-4C6F-AE5B-CB57784A61A2}"/>
              </a:ext>
            </a:extLst>
          </p:cNvPr>
          <p:cNvSpPr>
            <a:spLocks noGrp="1"/>
          </p:cNvSpPr>
          <p:nvPr/>
        </p:nvSpPr>
        <p:spPr>
          <a:xfrm>
            <a:off x="685800" y="1285875"/>
            <a:ext cx="10820400" cy="28575"/>
          </a:xfrm>
          <a:prstGeom prst="rect">
            <a:avLst/>
          </a:prstGeom>
          <a:solidFill>
            <a:srgbClr val="FBBF24"/>
          </a:solidFill>
          <a:ln w="0">
            <a:noFill/>
            <a:prstDash val="solid"/>
          </a:ln>
        </p:spPr>
        <p:txBody>
          <a:bodyPr/>
          <a:lstStyle/>
          <a:p>
            <a:endParaRPr lang="en-US"/>
          </a:p>
        </p:txBody>
      </p:sp>
      <p:sp>
        <p:nvSpPr>
          <p:cNvPr id="4" name="Rectangle 3">
            <a:extLst>
              <a:ext uri="{FF2B5EF4-FFF2-40B4-BE49-F238E27FC236}">
                <a16:creationId xmlns:a16="http://schemas.microsoft.com/office/drawing/2014/main" id="{CFDBE740-2B9D-49AD-886C-16A18163EA93}"/>
              </a:ext>
            </a:extLst>
          </p:cNvPr>
          <p:cNvSpPr>
            <a:spLocks noGrp="1"/>
          </p:cNvSpPr>
          <p:nvPr/>
        </p:nvSpPr>
        <p:spPr>
          <a:xfrm>
            <a:off x="10839450" y="333375"/>
            <a:ext cx="666750" cy="228600"/>
          </a:xfrm>
          <a:prstGeom prst="rect">
            <a:avLst/>
          </a:prstGeom>
          <a:noFill/>
          <a:ln w="0">
            <a:noFill/>
            <a:prstDash val="solid"/>
          </a:ln>
        </p:spPr>
        <p:txBody>
          <a:bodyPr anchor="t">
            <a:normAutofit fontScale="93214" lnSpcReduction="10000"/>
          </a:bodyPr>
          <a:lstStyle/>
          <a:p>
            <a:pPr algn="r">
              <a:defRPr sz="1050" b="0">
                <a:solidFill>
                  <a:srgbClr val="52606D"/>
                </a:solidFill>
                <a:latin typeface="Arial"/>
                <a:ea typeface="Arial"/>
                <a:cs typeface="Arial"/>
              </a:defRPr>
            </a:pPr>
            <a:r>
              <a:rPr sz="1050" b="0">
                <a:solidFill>
                  <a:srgbClr val="52606D"/>
                </a:solidFill>
                <a:latin typeface="Arial"/>
                <a:ea typeface="Arial"/>
                <a:cs typeface="Arial"/>
              </a:rPr>
              <a:t>08</a:t>
            </a:r>
          </a:p>
        </p:txBody>
      </p:sp>
      <p:sp>
        <p:nvSpPr>
          <p:cNvPr id="5" name="Rectangle 4">
            <a:extLst>
              <a:ext uri="{FF2B5EF4-FFF2-40B4-BE49-F238E27FC236}">
                <a16:creationId xmlns:a16="http://schemas.microsoft.com/office/drawing/2014/main" id="{3002C440-3E67-4CBD-8CE8-5BE9A24C58D4}"/>
              </a:ext>
            </a:extLst>
          </p:cNvPr>
          <p:cNvSpPr>
            <a:spLocks noGrp="1"/>
          </p:cNvSpPr>
          <p:nvPr/>
        </p:nvSpPr>
        <p:spPr>
          <a:xfrm>
            <a:off x="1066800" y="2095500"/>
            <a:ext cx="4286250" cy="2667000"/>
          </a:xfrm>
          <a:prstGeom prst="rect">
            <a:avLst/>
          </a:prstGeom>
          <a:solidFill>
            <a:srgbClr val="F4F7FA"/>
          </a:solidFill>
          <a:ln w="9525">
            <a:solidFill>
              <a:srgbClr val="CBD5E1"/>
            </a:solidFill>
            <a:prstDash val="solid"/>
          </a:ln>
        </p:spPr>
        <p:txBody>
          <a:bodyPr/>
          <a:lstStyle/>
          <a:p>
            <a:endParaRPr lang="en-US"/>
          </a:p>
        </p:txBody>
      </p:sp>
      <p:sp>
        <p:nvSpPr>
          <p:cNvPr id="6" name="Rectangle 5">
            <a:extLst>
              <a:ext uri="{FF2B5EF4-FFF2-40B4-BE49-F238E27FC236}">
                <a16:creationId xmlns:a16="http://schemas.microsoft.com/office/drawing/2014/main" id="{2A2E1E5A-D071-4329-8B73-642D2E44420A}"/>
              </a:ext>
            </a:extLst>
          </p:cNvPr>
          <p:cNvSpPr>
            <a:spLocks noGrp="1"/>
          </p:cNvSpPr>
          <p:nvPr/>
        </p:nvSpPr>
        <p:spPr>
          <a:xfrm>
            <a:off x="1428750" y="2457450"/>
            <a:ext cx="3429000" cy="457200"/>
          </a:xfrm>
          <a:prstGeom prst="rect">
            <a:avLst/>
          </a:prstGeom>
          <a:noFill/>
          <a:ln w="0">
            <a:noFill/>
            <a:prstDash val="solid"/>
          </a:ln>
        </p:spPr>
        <p:txBody>
          <a:bodyPr anchor="t">
            <a:normAutofit fontScale="94118"/>
          </a:bodyPr>
          <a:lstStyle/>
          <a:p>
            <a:pPr algn="l">
              <a:defRPr sz="2550" b="1">
                <a:solidFill>
                  <a:srgbClr val="003B66"/>
                </a:solidFill>
                <a:latin typeface="Arial"/>
                <a:ea typeface="Arial"/>
                <a:cs typeface="Arial"/>
              </a:defRPr>
            </a:pPr>
            <a:r>
              <a:rPr sz="2550" b="1" dirty="0">
                <a:solidFill>
                  <a:srgbClr val="003B66"/>
                </a:solidFill>
                <a:latin typeface="Arial"/>
                <a:ea typeface="Arial"/>
                <a:cs typeface="Arial"/>
              </a:rPr>
              <a:t>Create Only</a:t>
            </a:r>
          </a:p>
        </p:txBody>
      </p:sp>
      <p:sp>
        <p:nvSpPr>
          <p:cNvPr id="7" name="Rectangle 6">
            <a:extLst>
              <a:ext uri="{FF2B5EF4-FFF2-40B4-BE49-F238E27FC236}">
                <a16:creationId xmlns:a16="http://schemas.microsoft.com/office/drawing/2014/main" id="{8E501806-867F-4071-AD69-9FFCA1C80AFC}"/>
              </a:ext>
            </a:extLst>
          </p:cNvPr>
          <p:cNvSpPr>
            <a:spLocks noGrp="1"/>
          </p:cNvSpPr>
          <p:nvPr/>
        </p:nvSpPr>
        <p:spPr>
          <a:xfrm>
            <a:off x="1428750" y="3238500"/>
            <a:ext cx="3333750" cy="914400"/>
          </a:xfrm>
          <a:prstGeom prst="rect">
            <a:avLst/>
          </a:prstGeom>
          <a:noFill/>
          <a:ln w="0">
            <a:noFill/>
            <a:prstDash val="solid"/>
          </a:ln>
        </p:spPr>
        <p:txBody>
          <a:bodyPr anchor="t">
            <a:normAutofit fontScale="99552"/>
          </a:bodyPr>
          <a:lstStyle/>
          <a:p>
            <a:pPr algn="l">
              <a:defRPr sz="1650" b="0">
                <a:solidFill>
                  <a:srgbClr val="52606D"/>
                </a:solidFill>
                <a:latin typeface="Arial"/>
                <a:ea typeface="Arial"/>
                <a:cs typeface="Arial"/>
              </a:defRPr>
            </a:pPr>
            <a:r>
              <a:rPr sz="1650" b="0">
                <a:solidFill>
                  <a:srgbClr val="52606D"/>
                </a:solidFill>
                <a:latin typeface="Arial"/>
                <a:ea typeface="Arial"/>
                <a:cs typeface="Arial"/>
              </a:rPr>
              <a:t>Choose this when the starter needs more customization or review before it is ready to deploy.</a:t>
            </a:r>
          </a:p>
        </p:txBody>
      </p:sp>
      <p:sp>
        <p:nvSpPr>
          <p:cNvPr id="8" name="Rectangle 7">
            <a:extLst>
              <a:ext uri="{FF2B5EF4-FFF2-40B4-BE49-F238E27FC236}">
                <a16:creationId xmlns:a16="http://schemas.microsoft.com/office/drawing/2014/main" id="{9ED518A7-2ACC-431F-A070-1727F3B092DF}"/>
              </a:ext>
            </a:extLst>
          </p:cNvPr>
          <p:cNvSpPr>
            <a:spLocks noGrp="1"/>
          </p:cNvSpPr>
          <p:nvPr/>
        </p:nvSpPr>
        <p:spPr>
          <a:xfrm>
            <a:off x="6858000" y="2095500"/>
            <a:ext cx="4286250" cy="2667000"/>
          </a:xfrm>
          <a:prstGeom prst="rect">
            <a:avLst/>
          </a:prstGeom>
          <a:solidFill>
            <a:srgbClr val="E8F4FB"/>
          </a:solidFill>
          <a:ln w="9525">
            <a:solidFill>
              <a:srgbClr val="CBD5E1"/>
            </a:solidFill>
            <a:prstDash val="solid"/>
          </a:ln>
        </p:spPr>
        <p:txBody>
          <a:bodyPr/>
          <a:lstStyle/>
          <a:p>
            <a:endParaRPr lang="en-US"/>
          </a:p>
        </p:txBody>
      </p:sp>
      <p:sp>
        <p:nvSpPr>
          <p:cNvPr id="9" name="Rectangle 8">
            <a:extLst>
              <a:ext uri="{FF2B5EF4-FFF2-40B4-BE49-F238E27FC236}">
                <a16:creationId xmlns:a16="http://schemas.microsoft.com/office/drawing/2014/main" id="{2A26E69F-DEC4-4F86-8A0D-8441C7762F45}"/>
              </a:ext>
            </a:extLst>
          </p:cNvPr>
          <p:cNvSpPr>
            <a:spLocks noGrp="1"/>
          </p:cNvSpPr>
          <p:nvPr/>
        </p:nvSpPr>
        <p:spPr>
          <a:xfrm>
            <a:off x="7219950" y="2457450"/>
            <a:ext cx="3524250" cy="457200"/>
          </a:xfrm>
          <a:prstGeom prst="rect">
            <a:avLst/>
          </a:prstGeom>
          <a:noFill/>
          <a:ln w="0">
            <a:noFill/>
            <a:prstDash val="solid"/>
          </a:ln>
        </p:spPr>
        <p:txBody>
          <a:bodyPr anchor="t">
            <a:normAutofit fontScale="94118"/>
          </a:bodyPr>
          <a:lstStyle/>
          <a:p>
            <a:pPr algn="l">
              <a:defRPr sz="2550" b="1">
                <a:solidFill>
                  <a:srgbClr val="003B66"/>
                </a:solidFill>
                <a:latin typeface="Arial"/>
                <a:ea typeface="Arial"/>
                <a:cs typeface="Arial"/>
              </a:defRPr>
            </a:pPr>
            <a:r>
              <a:rPr sz="2550" b="1">
                <a:solidFill>
                  <a:srgbClr val="003B66"/>
                </a:solidFill>
                <a:latin typeface="Arial"/>
                <a:ea typeface="Arial"/>
                <a:cs typeface="Arial"/>
              </a:rPr>
              <a:t>Create &amp; Publish</a:t>
            </a:r>
          </a:p>
        </p:txBody>
      </p:sp>
      <p:sp>
        <p:nvSpPr>
          <p:cNvPr id="10" name="Rectangle 9">
            <a:extLst>
              <a:ext uri="{FF2B5EF4-FFF2-40B4-BE49-F238E27FC236}">
                <a16:creationId xmlns:a16="http://schemas.microsoft.com/office/drawing/2014/main" id="{D1DB49EF-A39D-460A-8AFB-9A97B421A8DB}"/>
              </a:ext>
            </a:extLst>
          </p:cNvPr>
          <p:cNvSpPr>
            <a:spLocks noGrp="1"/>
          </p:cNvSpPr>
          <p:nvPr/>
        </p:nvSpPr>
        <p:spPr>
          <a:xfrm>
            <a:off x="7219950" y="3238500"/>
            <a:ext cx="3333750" cy="1047750"/>
          </a:xfrm>
          <a:prstGeom prst="rect">
            <a:avLst/>
          </a:prstGeom>
          <a:noFill/>
          <a:ln w="0">
            <a:noFill/>
            <a:prstDash val="solid"/>
          </a:ln>
        </p:spPr>
        <p:txBody>
          <a:bodyPr anchor="t">
            <a:normAutofit fontScale="87207"/>
          </a:bodyPr>
          <a:lstStyle/>
          <a:p>
            <a:pPr algn="l">
              <a:defRPr sz="1650" b="0">
                <a:solidFill>
                  <a:srgbClr val="52606D"/>
                </a:solidFill>
                <a:latin typeface="Arial"/>
                <a:ea typeface="Arial"/>
                <a:cs typeface="Arial"/>
              </a:defRPr>
            </a:pPr>
            <a:r>
              <a:rPr sz="1650" b="0">
                <a:solidFill>
                  <a:srgbClr val="52606D"/>
                </a:solidFill>
                <a:latin typeface="Arial"/>
                <a:ea typeface="Arial"/>
                <a:cs typeface="Arial"/>
              </a:rPr>
              <a:t>Choose this when the starter is ready for an initial Azure deployment and you want the portal to prepare the publishing path.</a:t>
            </a:r>
          </a:p>
        </p:txBody>
      </p:sp>
      <p:sp>
        <p:nvSpPr>
          <p:cNvPr id="11" name="Rectangle 10">
            <a:extLst>
              <a:ext uri="{FF2B5EF4-FFF2-40B4-BE49-F238E27FC236}">
                <a16:creationId xmlns:a16="http://schemas.microsoft.com/office/drawing/2014/main" id="{96634597-FCEF-41D6-BB36-EBE6B2B52E88}"/>
              </a:ext>
            </a:extLst>
          </p:cNvPr>
          <p:cNvSpPr>
            <a:spLocks noGrp="1"/>
          </p:cNvSpPr>
          <p:nvPr/>
        </p:nvSpPr>
        <p:spPr>
          <a:xfrm>
            <a:off x="1381125" y="5381625"/>
            <a:ext cx="9429750" cy="333375"/>
          </a:xfrm>
          <a:prstGeom prst="rect">
            <a:avLst/>
          </a:prstGeom>
          <a:noFill/>
          <a:ln w="0">
            <a:noFill/>
            <a:prstDash val="solid"/>
          </a:ln>
        </p:spPr>
        <p:txBody>
          <a:bodyPr anchor="t">
            <a:normAutofit fontScale="96212" lnSpcReduction="10000"/>
          </a:bodyPr>
          <a:lstStyle/>
          <a:p>
            <a:pPr algn="ctr">
              <a:defRPr sz="1650" b="1">
                <a:solidFill>
                  <a:srgbClr val="005A9C"/>
                </a:solidFill>
                <a:latin typeface="Arial"/>
                <a:ea typeface="Arial"/>
                <a:cs typeface="Arial"/>
              </a:defRPr>
            </a:pPr>
            <a:r>
              <a:rPr sz="1650" b="1">
                <a:solidFill>
                  <a:srgbClr val="005A9C"/>
                </a:solidFill>
                <a:latin typeface="Arial"/>
                <a:ea typeface="Arial"/>
                <a:cs typeface="Arial"/>
              </a:rPr>
              <a:t>In either case, keep the managed GitHub repository as the source of truth.</a:t>
            </a:r>
          </a:p>
        </p:txBody>
      </p:sp>
      <p:sp>
        <p:nvSpPr>
          <p:cNvPr id="12" name="Rectangle 11">
            <a:extLst>
              <a:ext uri="{FF2B5EF4-FFF2-40B4-BE49-F238E27FC236}">
                <a16:creationId xmlns:a16="http://schemas.microsoft.com/office/drawing/2014/main" id="{CED114E6-FA36-4D0B-B37E-B91A9196C19D}"/>
              </a:ext>
            </a:extLst>
          </p:cNvPr>
          <p:cNvSpPr>
            <a:spLocks noGrp="1"/>
          </p:cNvSpPr>
          <p:nvPr/>
        </p:nvSpPr>
        <p:spPr>
          <a:xfrm>
            <a:off x="0" y="6705600"/>
            <a:ext cx="12192000" cy="152400"/>
          </a:xfrm>
          <a:prstGeom prst="rect">
            <a:avLst/>
          </a:prstGeom>
          <a:solidFill>
            <a:srgbClr val="003B66"/>
          </a:solidFill>
          <a:ln w="0">
            <a:noFill/>
            <a:prstDash val="solid"/>
          </a:ln>
        </p:spPr>
        <p:txBody>
          <a:bodyPr/>
          <a:lstStyle/>
          <a:p>
            <a:endParaRPr lang="en-US"/>
          </a:p>
        </p:txBody>
      </p:sp>
    </p:spTree>
    <p:extLst>
      <p:ext uri="{BB962C8B-B14F-4D97-AF65-F5344CB8AC3E}">
        <p14:creationId xmlns:p14="http://schemas.microsoft.com/office/powerpoint/2010/main" val="2136770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6020FEC-734E-4847-8DE2-BC4A468523B4}"/>
              </a:ext>
            </a:extLst>
          </p:cNvPr>
          <p:cNvSpPr>
            <a:spLocks noGrp="1"/>
          </p:cNvSpPr>
          <p:nvPr/>
        </p:nvSpPr>
        <p:spPr>
          <a:xfrm>
            <a:off x="685800" y="304800"/>
            <a:ext cx="5715000" cy="209550"/>
          </a:xfrm>
          <a:prstGeom prst="rect">
            <a:avLst/>
          </a:prstGeom>
          <a:noFill/>
          <a:ln w="0">
            <a:noFill/>
            <a:prstDash val="solid"/>
          </a:ln>
        </p:spPr>
        <p:txBody>
          <a:bodyPr anchor="t">
            <a:normAutofit fontScale="86111" lnSpcReduction="10000"/>
          </a:bodyPr>
          <a:lstStyle/>
          <a:p>
            <a:pPr algn="l">
              <a:defRPr sz="900" b="1">
                <a:solidFill>
                  <a:srgbClr val="005A9C"/>
                </a:solidFill>
                <a:latin typeface="Arial"/>
                <a:ea typeface="Arial"/>
                <a:cs typeface="Arial"/>
              </a:defRPr>
            </a:pPr>
            <a:r>
              <a:rPr sz="900" b="1">
                <a:solidFill>
                  <a:srgbClr val="005A9C"/>
                </a:solidFill>
                <a:latin typeface="Arial"/>
                <a:ea typeface="Arial"/>
                <a:cs typeface="Arial"/>
              </a:rPr>
              <a:t>CEDARVILLE APP PORTAL</a:t>
            </a:r>
          </a:p>
        </p:txBody>
      </p:sp>
      <p:sp>
        <p:nvSpPr>
          <p:cNvPr id="2" name="Rectangle 1">
            <a:extLst>
              <a:ext uri="{FF2B5EF4-FFF2-40B4-BE49-F238E27FC236}">
                <a16:creationId xmlns:a16="http://schemas.microsoft.com/office/drawing/2014/main" id="{936859BC-5658-4BC0-8912-8B12FBD89194}"/>
              </a:ext>
            </a:extLst>
          </p:cNvPr>
          <p:cNvSpPr>
            <a:spLocks noGrp="1"/>
          </p:cNvSpPr>
          <p:nvPr/>
        </p:nvSpPr>
        <p:spPr>
          <a:xfrm>
            <a:off x="685800" y="647700"/>
            <a:ext cx="9334500" cy="523875"/>
          </a:xfrm>
          <a:prstGeom prst="rect">
            <a:avLst/>
          </a:prstGeom>
          <a:noFill/>
          <a:ln w="0">
            <a:noFill/>
            <a:prstDash val="solid"/>
          </a:ln>
        </p:spPr>
        <p:txBody>
          <a:bodyPr anchor="t">
            <a:normAutofit fontScale="98722"/>
          </a:bodyPr>
          <a:lstStyle/>
          <a:p>
            <a:pPr algn="l">
              <a:defRPr sz="2850" b="1">
                <a:solidFill>
                  <a:srgbClr val="102A43"/>
                </a:solidFill>
                <a:latin typeface="Arial"/>
                <a:ea typeface="Arial"/>
                <a:cs typeface="Arial"/>
              </a:defRPr>
            </a:pPr>
            <a:r>
              <a:rPr sz="2400" b="1" dirty="0">
                <a:solidFill>
                  <a:srgbClr val="102A43"/>
                </a:solidFill>
                <a:latin typeface="Arial"/>
                <a:ea typeface="Arial"/>
                <a:cs typeface="Arial"/>
              </a:rPr>
              <a:t>GitHub is the shared source of truth for ongoing work</a:t>
            </a:r>
          </a:p>
        </p:txBody>
      </p:sp>
      <p:sp>
        <p:nvSpPr>
          <p:cNvPr id="3" name="Rectangle 2">
            <a:extLst>
              <a:ext uri="{FF2B5EF4-FFF2-40B4-BE49-F238E27FC236}">
                <a16:creationId xmlns:a16="http://schemas.microsoft.com/office/drawing/2014/main" id="{F9B219B0-87B0-41F3-86AB-8771F7358F4C}"/>
              </a:ext>
            </a:extLst>
          </p:cNvPr>
          <p:cNvSpPr>
            <a:spLocks noGrp="1"/>
          </p:cNvSpPr>
          <p:nvPr/>
        </p:nvSpPr>
        <p:spPr>
          <a:xfrm>
            <a:off x="685800" y="1285875"/>
            <a:ext cx="10820400" cy="28575"/>
          </a:xfrm>
          <a:prstGeom prst="rect">
            <a:avLst/>
          </a:prstGeom>
          <a:solidFill>
            <a:srgbClr val="FBBF24"/>
          </a:solidFill>
          <a:ln w="0">
            <a:noFill/>
            <a:prstDash val="solid"/>
          </a:ln>
        </p:spPr>
        <p:txBody>
          <a:bodyPr/>
          <a:lstStyle/>
          <a:p>
            <a:endParaRPr lang="en-US"/>
          </a:p>
        </p:txBody>
      </p:sp>
      <p:sp>
        <p:nvSpPr>
          <p:cNvPr id="4" name="Rectangle 3">
            <a:extLst>
              <a:ext uri="{FF2B5EF4-FFF2-40B4-BE49-F238E27FC236}">
                <a16:creationId xmlns:a16="http://schemas.microsoft.com/office/drawing/2014/main" id="{9B8E527A-4169-46C5-95D4-75890FDD8B62}"/>
              </a:ext>
            </a:extLst>
          </p:cNvPr>
          <p:cNvSpPr>
            <a:spLocks noGrp="1"/>
          </p:cNvSpPr>
          <p:nvPr/>
        </p:nvSpPr>
        <p:spPr>
          <a:xfrm>
            <a:off x="10839450" y="333375"/>
            <a:ext cx="666750" cy="228600"/>
          </a:xfrm>
          <a:prstGeom prst="rect">
            <a:avLst/>
          </a:prstGeom>
          <a:noFill/>
          <a:ln w="0">
            <a:noFill/>
            <a:prstDash val="solid"/>
          </a:ln>
        </p:spPr>
        <p:txBody>
          <a:bodyPr anchor="t">
            <a:normAutofit fontScale="93214" lnSpcReduction="10000"/>
          </a:bodyPr>
          <a:lstStyle/>
          <a:p>
            <a:pPr algn="r">
              <a:defRPr sz="1050" b="0">
                <a:solidFill>
                  <a:srgbClr val="52606D"/>
                </a:solidFill>
                <a:latin typeface="Arial"/>
                <a:ea typeface="Arial"/>
                <a:cs typeface="Arial"/>
              </a:defRPr>
            </a:pPr>
            <a:r>
              <a:rPr sz="1050" b="0">
                <a:solidFill>
                  <a:srgbClr val="52606D"/>
                </a:solidFill>
                <a:latin typeface="Arial"/>
                <a:ea typeface="Arial"/>
                <a:cs typeface="Arial"/>
              </a:rPr>
              <a:t>09</a:t>
            </a:r>
          </a:p>
        </p:txBody>
      </p:sp>
      <p:sp>
        <p:nvSpPr>
          <p:cNvPr id="5" name="Rectangle 4">
            <a:extLst>
              <a:ext uri="{FF2B5EF4-FFF2-40B4-BE49-F238E27FC236}">
                <a16:creationId xmlns:a16="http://schemas.microsoft.com/office/drawing/2014/main" id="{293A97C5-D13D-40BD-A953-696871EDECB4}"/>
              </a:ext>
            </a:extLst>
          </p:cNvPr>
          <p:cNvSpPr>
            <a:spLocks noGrp="1"/>
          </p:cNvSpPr>
          <p:nvPr/>
        </p:nvSpPr>
        <p:spPr>
          <a:xfrm>
            <a:off x="685800" y="1752600"/>
            <a:ext cx="10287000" cy="495300"/>
          </a:xfrm>
          <a:prstGeom prst="rect">
            <a:avLst/>
          </a:prstGeom>
          <a:noFill/>
          <a:ln w="0">
            <a:noFill/>
            <a:prstDash val="solid"/>
          </a:ln>
        </p:spPr>
        <p:txBody>
          <a:bodyPr anchor="t">
            <a:normAutofit fontScale="89337" lnSpcReduction="20000"/>
          </a:bodyPr>
          <a:lstStyle/>
          <a:p>
            <a:pPr algn="l">
              <a:defRPr sz="2100" b="0">
                <a:solidFill>
                  <a:srgbClr val="52606D"/>
                </a:solidFill>
                <a:latin typeface="Arial"/>
                <a:ea typeface="Arial"/>
                <a:cs typeface="Arial"/>
              </a:defRPr>
            </a:pPr>
            <a:r>
              <a:rPr sz="2100" b="0">
                <a:solidFill>
                  <a:srgbClr val="52606D"/>
                </a:solidFill>
                <a:latin typeface="Arial"/>
                <a:ea typeface="Arial"/>
                <a:cs typeface="Arial"/>
              </a:rPr>
              <a:t>The ZIP is a useful snapshot. The managed repository is where the version you review and publish lives.</a:t>
            </a:r>
          </a:p>
        </p:txBody>
      </p:sp>
      <p:sp>
        <p:nvSpPr>
          <p:cNvPr id="6" name="Rectangle 5">
            <a:extLst>
              <a:ext uri="{FF2B5EF4-FFF2-40B4-BE49-F238E27FC236}">
                <a16:creationId xmlns:a16="http://schemas.microsoft.com/office/drawing/2014/main" id="{87F94225-7121-44CB-B868-4EBCC1FE13EA}"/>
              </a:ext>
            </a:extLst>
          </p:cNvPr>
          <p:cNvSpPr>
            <a:spLocks noGrp="1"/>
          </p:cNvSpPr>
          <p:nvPr/>
        </p:nvSpPr>
        <p:spPr>
          <a:xfrm>
            <a:off x="685800" y="3143250"/>
            <a:ext cx="2333625" cy="1619250"/>
          </a:xfrm>
          <a:prstGeom prst="rect">
            <a:avLst/>
          </a:prstGeom>
          <a:solidFill>
            <a:srgbClr val="F4F7FA"/>
          </a:solidFill>
          <a:ln w="9525">
            <a:solidFill>
              <a:srgbClr val="CBD5E1"/>
            </a:solidFill>
            <a:prstDash val="solid"/>
          </a:ln>
        </p:spPr>
        <p:txBody>
          <a:bodyPr/>
          <a:lstStyle/>
          <a:p>
            <a:endParaRPr lang="en-US"/>
          </a:p>
        </p:txBody>
      </p:sp>
      <p:sp>
        <p:nvSpPr>
          <p:cNvPr id="7" name="Rectangle 6">
            <a:extLst>
              <a:ext uri="{FF2B5EF4-FFF2-40B4-BE49-F238E27FC236}">
                <a16:creationId xmlns:a16="http://schemas.microsoft.com/office/drawing/2014/main" id="{1096D60E-B61E-4B58-AAFF-D03902213F69}"/>
              </a:ext>
            </a:extLst>
          </p:cNvPr>
          <p:cNvSpPr>
            <a:spLocks noGrp="1"/>
          </p:cNvSpPr>
          <p:nvPr/>
        </p:nvSpPr>
        <p:spPr>
          <a:xfrm>
            <a:off x="876300" y="3381375"/>
            <a:ext cx="1952625" cy="323850"/>
          </a:xfrm>
          <a:prstGeom prst="rect">
            <a:avLst/>
          </a:prstGeom>
          <a:noFill/>
          <a:ln w="0">
            <a:noFill/>
            <a:prstDash val="solid"/>
          </a:ln>
        </p:spPr>
        <p:txBody>
          <a:bodyPr anchor="t">
            <a:normAutofit fontScale="88833" lnSpcReduction="20000"/>
          </a:bodyPr>
          <a:lstStyle/>
          <a:p>
            <a:pPr algn="ctr">
              <a:defRPr sz="1875" b="1">
                <a:solidFill>
                  <a:srgbClr val="003B66"/>
                </a:solidFill>
                <a:latin typeface="Arial"/>
                <a:ea typeface="Arial"/>
                <a:cs typeface="Arial"/>
              </a:defRPr>
            </a:pPr>
            <a:r>
              <a:rPr sz="1875" b="1">
                <a:solidFill>
                  <a:srgbClr val="003B66"/>
                </a:solidFill>
                <a:latin typeface="Arial"/>
                <a:ea typeface="Arial"/>
                <a:cs typeface="Arial"/>
              </a:rPr>
              <a:t>Portal</a:t>
            </a:r>
          </a:p>
        </p:txBody>
      </p:sp>
      <p:sp>
        <p:nvSpPr>
          <p:cNvPr id="8" name="Rectangle 7">
            <a:extLst>
              <a:ext uri="{FF2B5EF4-FFF2-40B4-BE49-F238E27FC236}">
                <a16:creationId xmlns:a16="http://schemas.microsoft.com/office/drawing/2014/main" id="{C871DB23-7757-44C4-A489-34C9CC99C27C}"/>
              </a:ext>
            </a:extLst>
          </p:cNvPr>
          <p:cNvSpPr>
            <a:spLocks noGrp="1"/>
          </p:cNvSpPr>
          <p:nvPr/>
        </p:nvSpPr>
        <p:spPr>
          <a:xfrm>
            <a:off x="904875" y="3914775"/>
            <a:ext cx="1905000" cy="571500"/>
          </a:xfrm>
          <a:prstGeom prst="rect">
            <a:avLst/>
          </a:prstGeom>
          <a:noFill/>
          <a:ln w="0">
            <a:noFill/>
            <a:prstDash val="solid"/>
          </a:ln>
        </p:spPr>
        <p:txBody>
          <a:bodyPr anchor="t">
            <a:normAutofit/>
          </a:bodyPr>
          <a:lstStyle/>
          <a:p>
            <a:pPr algn="ctr">
              <a:defRPr sz="1275" b="0">
                <a:solidFill>
                  <a:srgbClr val="52606D"/>
                </a:solidFill>
                <a:latin typeface="Arial"/>
                <a:ea typeface="Arial"/>
                <a:cs typeface="Arial"/>
              </a:defRPr>
            </a:pPr>
            <a:r>
              <a:rPr sz="1275" b="0">
                <a:solidFill>
                  <a:srgbClr val="52606D"/>
                </a:solidFill>
                <a:latin typeface="Arial"/>
                <a:ea typeface="Arial"/>
                <a:cs typeface="Arial"/>
              </a:rPr>
              <a:t>Creates or connects the managed repository</a:t>
            </a:r>
          </a:p>
        </p:txBody>
      </p:sp>
      <p:sp>
        <p:nvSpPr>
          <p:cNvPr id="9" name="Rectangle 8">
            <a:extLst>
              <a:ext uri="{FF2B5EF4-FFF2-40B4-BE49-F238E27FC236}">
                <a16:creationId xmlns:a16="http://schemas.microsoft.com/office/drawing/2014/main" id="{6291CD73-0CC6-403C-8B99-A99E2162C6BD}"/>
              </a:ext>
            </a:extLst>
          </p:cNvPr>
          <p:cNvSpPr>
            <a:spLocks noGrp="1"/>
          </p:cNvSpPr>
          <p:nvPr/>
        </p:nvSpPr>
        <p:spPr>
          <a:xfrm>
            <a:off x="3400425" y="3143250"/>
            <a:ext cx="2333625" cy="1619250"/>
          </a:xfrm>
          <a:prstGeom prst="rect">
            <a:avLst/>
          </a:prstGeom>
          <a:solidFill>
            <a:srgbClr val="F4F7FA"/>
          </a:solidFill>
          <a:ln w="9525">
            <a:solidFill>
              <a:srgbClr val="CBD5E1"/>
            </a:solidFill>
            <a:prstDash val="solid"/>
          </a:ln>
        </p:spPr>
        <p:txBody>
          <a:bodyPr/>
          <a:lstStyle/>
          <a:p>
            <a:endParaRPr lang="en-US"/>
          </a:p>
        </p:txBody>
      </p:sp>
      <p:sp>
        <p:nvSpPr>
          <p:cNvPr id="10" name="Rectangle 9">
            <a:extLst>
              <a:ext uri="{FF2B5EF4-FFF2-40B4-BE49-F238E27FC236}">
                <a16:creationId xmlns:a16="http://schemas.microsoft.com/office/drawing/2014/main" id="{10CAD233-744B-4F4F-838D-984978B79ECA}"/>
              </a:ext>
            </a:extLst>
          </p:cNvPr>
          <p:cNvSpPr>
            <a:spLocks noGrp="1"/>
          </p:cNvSpPr>
          <p:nvPr/>
        </p:nvSpPr>
        <p:spPr>
          <a:xfrm>
            <a:off x="3590925" y="3381375"/>
            <a:ext cx="1952625" cy="323850"/>
          </a:xfrm>
          <a:prstGeom prst="rect">
            <a:avLst/>
          </a:prstGeom>
          <a:noFill/>
          <a:ln w="0">
            <a:noFill/>
            <a:prstDash val="solid"/>
          </a:ln>
        </p:spPr>
        <p:txBody>
          <a:bodyPr anchor="t">
            <a:normAutofit fontScale="88833" lnSpcReduction="20000"/>
          </a:bodyPr>
          <a:lstStyle/>
          <a:p>
            <a:pPr algn="ctr">
              <a:defRPr sz="1875" b="1">
                <a:solidFill>
                  <a:srgbClr val="003B66"/>
                </a:solidFill>
                <a:latin typeface="Arial"/>
                <a:ea typeface="Arial"/>
                <a:cs typeface="Arial"/>
              </a:defRPr>
            </a:pPr>
            <a:r>
              <a:rPr sz="1875" b="1">
                <a:solidFill>
                  <a:srgbClr val="003B66"/>
                </a:solidFill>
                <a:latin typeface="Arial"/>
                <a:ea typeface="Arial"/>
                <a:cs typeface="Arial"/>
              </a:rPr>
              <a:t>Codex / developer</a:t>
            </a:r>
          </a:p>
        </p:txBody>
      </p:sp>
      <p:sp>
        <p:nvSpPr>
          <p:cNvPr id="11" name="Rectangle 10">
            <a:extLst>
              <a:ext uri="{FF2B5EF4-FFF2-40B4-BE49-F238E27FC236}">
                <a16:creationId xmlns:a16="http://schemas.microsoft.com/office/drawing/2014/main" id="{94D0D57E-5392-4A1A-BEFC-FADA3CCE133B}"/>
              </a:ext>
            </a:extLst>
          </p:cNvPr>
          <p:cNvSpPr>
            <a:spLocks noGrp="1"/>
          </p:cNvSpPr>
          <p:nvPr/>
        </p:nvSpPr>
        <p:spPr>
          <a:xfrm>
            <a:off x="3619500" y="3914775"/>
            <a:ext cx="1905000" cy="571500"/>
          </a:xfrm>
          <a:prstGeom prst="rect">
            <a:avLst/>
          </a:prstGeom>
          <a:noFill/>
          <a:ln w="0">
            <a:noFill/>
            <a:prstDash val="solid"/>
          </a:ln>
        </p:spPr>
        <p:txBody>
          <a:bodyPr anchor="t">
            <a:normAutofit fontScale="95097"/>
          </a:bodyPr>
          <a:lstStyle/>
          <a:p>
            <a:pPr algn="ctr">
              <a:defRPr sz="1275" b="0">
                <a:solidFill>
                  <a:srgbClr val="52606D"/>
                </a:solidFill>
                <a:latin typeface="Arial"/>
                <a:ea typeface="Arial"/>
                <a:cs typeface="Arial"/>
              </a:defRPr>
            </a:pPr>
            <a:r>
              <a:rPr sz="1275" b="0">
                <a:solidFill>
                  <a:srgbClr val="52606D"/>
                </a:solidFill>
                <a:latin typeface="Arial"/>
                <a:ea typeface="Arial"/>
                <a:cs typeface="Arial"/>
              </a:rPr>
              <a:t>Changes, explains, tests, and pushes the code</a:t>
            </a:r>
          </a:p>
        </p:txBody>
      </p:sp>
      <p:sp>
        <p:nvSpPr>
          <p:cNvPr id="12" name="Rectangle 11">
            <a:extLst>
              <a:ext uri="{FF2B5EF4-FFF2-40B4-BE49-F238E27FC236}">
                <a16:creationId xmlns:a16="http://schemas.microsoft.com/office/drawing/2014/main" id="{CDB4B6D4-261F-49B5-B287-9CE610034E78}"/>
              </a:ext>
            </a:extLst>
          </p:cNvPr>
          <p:cNvSpPr>
            <a:spLocks noGrp="1"/>
          </p:cNvSpPr>
          <p:nvPr/>
        </p:nvSpPr>
        <p:spPr>
          <a:xfrm>
            <a:off x="6115050" y="3143250"/>
            <a:ext cx="2333625" cy="1619250"/>
          </a:xfrm>
          <a:prstGeom prst="rect">
            <a:avLst/>
          </a:prstGeom>
          <a:solidFill>
            <a:srgbClr val="E8F4FB"/>
          </a:solidFill>
          <a:ln w="9525">
            <a:solidFill>
              <a:srgbClr val="CBD5E1"/>
            </a:solidFill>
            <a:prstDash val="solid"/>
          </a:ln>
        </p:spPr>
        <p:txBody>
          <a:bodyPr/>
          <a:lstStyle/>
          <a:p>
            <a:endParaRPr lang="en-US"/>
          </a:p>
        </p:txBody>
      </p:sp>
      <p:sp>
        <p:nvSpPr>
          <p:cNvPr id="13" name="Rectangle 12">
            <a:extLst>
              <a:ext uri="{FF2B5EF4-FFF2-40B4-BE49-F238E27FC236}">
                <a16:creationId xmlns:a16="http://schemas.microsoft.com/office/drawing/2014/main" id="{65EFB426-F436-4222-9236-FEC404E71648}"/>
              </a:ext>
            </a:extLst>
          </p:cNvPr>
          <p:cNvSpPr>
            <a:spLocks noGrp="1"/>
          </p:cNvSpPr>
          <p:nvPr/>
        </p:nvSpPr>
        <p:spPr>
          <a:xfrm>
            <a:off x="6305550" y="3381375"/>
            <a:ext cx="1952625" cy="323850"/>
          </a:xfrm>
          <a:prstGeom prst="rect">
            <a:avLst/>
          </a:prstGeom>
          <a:noFill/>
          <a:ln w="0">
            <a:noFill/>
            <a:prstDash val="solid"/>
          </a:ln>
        </p:spPr>
        <p:txBody>
          <a:bodyPr anchor="t">
            <a:normAutofit fontScale="88833" lnSpcReduction="20000"/>
          </a:bodyPr>
          <a:lstStyle/>
          <a:p>
            <a:pPr algn="ctr">
              <a:defRPr sz="1875" b="1">
                <a:solidFill>
                  <a:srgbClr val="003B66"/>
                </a:solidFill>
                <a:latin typeface="Arial"/>
                <a:ea typeface="Arial"/>
                <a:cs typeface="Arial"/>
              </a:defRPr>
            </a:pPr>
            <a:r>
              <a:rPr sz="1875" b="1">
                <a:solidFill>
                  <a:srgbClr val="003B66"/>
                </a:solidFill>
                <a:latin typeface="Arial"/>
                <a:ea typeface="Arial"/>
                <a:cs typeface="Arial"/>
              </a:rPr>
              <a:t>GitHub</a:t>
            </a:r>
          </a:p>
        </p:txBody>
      </p:sp>
      <p:sp>
        <p:nvSpPr>
          <p:cNvPr id="14" name="Rectangle 13">
            <a:extLst>
              <a:ext uri="{FF2B5EF4-FFF2-40B4-BE49-F238E27FC236}">
                <a16:creationId xmlns:a16="http://schemas.microsoft.com/office/drawing/2014/main" id="{45B4F565-FECE-47B8-B931-96E187461F60}"/>
              </a:ext>
            </a:extLst>
          </p:cNvPr>
          <p:cNvSpPr>
            <a:spLocks noGrp="1"/>
          </p:cNvSpPr>
          <p:nvPr/>
        </p:nvSpPr>
        <p:spPr>
          <a:xfrm>
            <a:off x="6334125" y="3914775"/>
            <a:ext cx="1905000" cy="571500"/>
          </a:xfrm>
          <a:prstGeom prst="rect">
            <a:avLst/>
          </a:prstGeom>
          <a:noFill/>
          <a:ln w="0">
            <a:noFill/>
            <a:prstDash val="solid"/>
          </a:ln>
        </p:spPr>
        <p:txBody>
          <a:bodyPr anchor="t">
            <a:normAutofit fontScale="94321"/>
          </a:bodyPr>
          <a:lstStyle/>
          <a:p>
            <a:pPr algn="ctr">
              <a:defRPr sz="1275" b="0">
                <a:solidFill>
                  <a:srgbClr val="52606D"/>
                </a:solidFill>
                <a:latin typeface="Arial"/>
                <a:ea typeface="Arial"/>
                <a:cs typeface="Arial"/>
              </a:defRPr>
            </a:pPr>
            <a:r>
              <a:rPr sz="1275" b="0">
                <a:solidFill>
                  <a:srgbClr val="52606D"/>
                </a:solidFill>
                <a:latin typeface="Arial"/>
                <a:ea typeface="Arial"/>
                <a:cs typeface="Arial"/>
              </a:rPr>
              <a:t>Keeps the version history and approved source</a:t>
            </a:r>
          </a:p>
        </p:txBody>
      </p:sp>
      <p:sp>
        <p:nvSpPr>
          <p:cNvPr id="15" name="Rectangle 14">
            <a:extLst>
              <a:ext uri="{FF2B5EF4-FFF2-40B4-BE49-F238E27FC236}">
                <a16:creationId xmlns:a16="http://schemas.microsoft.com/office/drawing/2014/main" id="{1F79770A-2EE4-4D58-8C20-64861F9FDB94}"/>
              </a:ext>
            </a:extLst>
          </p:cNvPr>
          <p:cNvSpPr>
            <a:spLocks noGrp="1"/>
          </p:cNvSpPr>
          <p:nvPr/>
        </p:nvSpPr>
        <p:spPr>
          <a:xfrm>
            <a:off x="8829675" y="3143250"/>
            <a:ext cx="2333625" cy="1619250"/>
          </a:xfrm>
          <a:prstGeom prst="rect">
            <a:avLst/>
          </a:prstGeom>
          <a:solidFill>
            <a:srgbClr val="F4F7FA"/>
          </a:solidFill>
          <a:ln w="9525">
            <a:solidFill>
              <a:srgbClr val="CBD5E1"/>
            </a:solidFill>
            <a:prstDash val="solid"/>
          </a:ln>
        </p:spPr>
        <p:txBody>
          <a:bodyPr/>
          <a:lstStyle/>
          <a:p>
            <a:endParaRPr lang="en-US"/>
          </a:p>
        </p:txBody>
      </p:sp>
      <p:sp>
        <p:nvSpPr>
          <p:cNvPr id="16" name="Rectangle 15">
            <a:extLst>
              <a:ext uri="{FF2B5EF4-FFF2-40B4-BE49-F238E27FC236}">
                <a16:creationId xmlns:a16="http://schemas.microsoft.com/office/drawing/2014/main" id="{6D5CAFFB-4B24-46BD-86DA-903F3B356A2C}"/>
              </a:ext>
            </a:extLst>
          </p:cNvPr>
          <p:cNvSpPr>
            <a:spLocks noGrp="1"/>
          </p:cNvSpPr>
          <p:nvPr/>
        </p:nvSpPr>
        <p:spPr>
          <a:xfrm>
            <a:off x="9020175" y="3381375"/>
            <a:ext cx="1952625" cy="323850"/>
          </a:xfrm>
          <a:prstGeom prst="rect">
            <a:avLst/>
          </a:prstGeom>
          <a:noFill/>
          <a:ln w="0">
            <a:noFill/>
            <a:prstDash val="solid"/>
          </a:ln>
        </p:spPr>
        <p:txBody>
          <a:bodyPr anchor="t">
            <a:normAutofit fontScale="88833" lnSpcReduction="20000"/>
          </a:bodyPr>
          <a:lstStyle/>
          <a:p>
            <a:pPr algn="ctr">
              <a:defRPr sz="1875" b="1">
                <a:solidFill>
                  <a:srgbClr val="003B66"/>
                </a:solidFill>
                <a:latin typeface="Arial"/>
                <a:ea typeface="Arial"/>
                <a:cs typeface="Arial"/>
              </a:defRPr>
            </a:pPr>
            <a:r>
              <a:rPr sz="1875" b="1">
                <a:solidFill>
                  <a:srgbClr val="003B66"/>
                </a:solidFill>
                <a:latin typeface="Arial"/>
                <a:ea typeface="Arial"/>
                <a:cs typeface="Arial"/>
              </a:rPr>
              <a:t>Azure</a:t>
            </a:r>
          </a:p>
        </p:txBody>
      </p:sp>
      <p:sp>
        <p:nvSpPr>
          <p:cNvPr id="17" name="Rectangle 16">
            <a:extLst>
              <a:ext uri="{FF2B5EF4-FFF2-40B4-BE49-F238E27FC236}">
                <a16:creationId xmlns:a16="http://schemas.microsoft.com/office/drawing/2014/main" id="{22034B6A-FE0C-401F-A756-5F98F8E5B784}"/>
              </a:ext>
            </a:extLst>
          </p:cNvPr>
          <p:cNvSpPr>
            <a:spLocks noGrp="1"/>
          </p:cNvSpPr>
          <p:nvPr/>
        </p:nvSpPr>
        <p:spPr>
          <a:xfrm>
            <a:off x="9048750" y="3914775"/>
            <a:ext cx="1905000" cy="571500"/>
          </a:xfrm>
          <a:prstGeom prst="rect">
            <a:avLst/>
          </a:prstGeom>
          <a:noFill/>
          <a:ln w="0">
            <a:noFill/>
            <a:prstDash val="solid"/>
          </a:ln>
        </p:spPr>
        <p:txBody>
          <a:bodyPr anchor="t">
            <a:normAutofit/>
          </a:bodyPr>
          <a:lstStyle/>
          <a:p>
            <a:pPr algn="ctr">
              <a:defRPr sz="1275" b="0">
                <a:solidFill>
                  <a:srgbClr val="52606D"/>
                </a:solidFill>
                <a:latin typeface="Arial"/>
                <a:ea typeface="Arial"/>
                <a:cs typeface="Arial"/>
              </a:defRPr>
            </a:pPr>
            <a:r>
              <a:rPr sz="1275" b="0">
                <a:solidFill>
                  <a:srgbClr val="52606D"/>
                </a:solidFill>
                <a:latin typeface="Arial"/>
                <a:ea typeface="Arial"/>
                <a:cs typeface="Arial"/>
              </a:rPr>
              <a:t>Runs the version that is published</a:t>
            </a:r>
          </a:p>
        </p:txBody>
      </p:sp>
      <p:sp>
        <p:nvSpPr>
          <p:cNvPr id="18" name="Rectangle 17">
            <a:extLst>
              <a:ext uri="{FF2B5EF4-FFF2-40B4-BE49-F238E27FC236}">
                <a16:creationId xmlns:a16="http://schemas.microsoft.com/office/drawing/2014/main" id="{B6C682E0-A1AF-4EA6-BB2E-18F19B2F4A5E}"/>
              </a:ext>
            </a:extLst>
          </p:cNvPr>
          <p:cNvSpPr>
            <a:spLocks noGrp="1"/>
          </p:cNvSpPr>
          <p:nvPr/>
        </p:nvSpPr>
        <p:spPr>
          <a:xfrm>
            <a:off x="0" y="6705600"/>
            <a:ext cx="12192000" cy="152400"/>
          </a:xfrm>
          <a:prstGeom prst="rect">
            <a:avLst/>
          </a:prstGeom>
          <a:solidFill>
            <a:srgbClr val="003B66"/>
          </a:solidFill>
          <a:ln w="0">
            <a:noFill/>
            <a:prstDash val="solid"/>
          </a:ln>
        </p:spPr>
        <p:txBody>
          <a:bodyPr/>
          <a:lstStyle/>
          <a:p>
            <a:endParaRPr lang="en-US"/>
          </a:p>
        </p:txBody>
      </p:sp>
    </p:spTree>
    <p:extLst>
      <p:ext uri="{BB962C8B-B14F-4D97-AF65-F5344CB8AC3E}">
        <p14:creationId xmlns:p14="http://schemas.microsoft.com/office/powerpoint/2010/main" val="1931727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92939D60-A52C-438E-9E25-F29A948E80AE}"/>
              </a:ext>
            </a:extLst>
          </p:cNvPr>
          <p:cNvSpPr>
            <a:spLocks noGrp="1"/>
          </p:cNvSpPr>
          <p:nvPr/>
        </p:nvSpPr>
        <p:spPr>
          <a:xfrm>
            <a:off x="685800" y="304800"/>
            <a:ext cx="5715000" cy="209550"/>
          </a:xfrm>
          <a:prstGeom prst="rect">
            <a:avLst/>
          </a:prstGeom>
          <a:noFill/>
          <a:ln w="0">
            <a:noFill/>
            <a:prstDash val="solid"/>
          </a:ln>
        </p:spPr>
        <p:txBody>
          <a:bodyPr anchor="t">
            <a:normAutofit fontScale="86111" lnSpcReduction="10000"/>
          </a:bodyPr>
          <a:lstStyle/>
          <a:p>
            <a:pPr algn="l">
              <a:defRPr sz="900" b="1">
                <a:solidFill>
                  <a:srgbClr val="005A9C"/>
                </a:solidFill>
                <a:latin typeface="Arial"/>
                <a:ea typeface="Arial"/>
                <a:cs typeface="Arial"/>
              </a:defRPr>
            </a:pPr>
            <a:r>
              <a:rPr sz="900" b="1">
                <a:solidFill>
                  <a:srgbClr val="005A9C"/>
                </a:solidFill>
                <a:latin typeface="Arial"/>
                <a:ea typeface="Arial"/>
                <a:cs typeface="Arial"/>
              </a:rPr>
              <a:t>CEDARVILLE APP PORTAL</a:t>
            </a:r>
          </a:p>
        </p:txBody>
      </p:sp>
      <p:sp>
        <p:nvSpPr>
          <p:cNvPr id="2" name="Rectangle 1">
            <a:extLst>
              <a:ext uri="{FF2B5EF4-FFF2-40B4-BE49-F238E27FC236}">
                <a16:creationId xmlns:a16="http://schemas.microsoft.com/office/drawing/2014/main" id="{8701938A-49EF-4268-8954-7175B7E9F6FF}"/>
              </a:ext>
            </a:extLst>
          </p:cNvPr>
          <p:cNvSpPr>
            <a:spLocks noGrp="1"/>
          </p:cNvSpPr>
          <p:nvPr/>
        </p:nvSpPr>
        <p:spPr>
          <a:xfrm>
            <a:off x="685799" y="647700"/>
            <a:ext cx="10315575" cy="523875"/>
          </a:xfrm>
          <a:prstGeom prst="rect">
            <a:avLst/>
          </a:prstGeom>
          <a:noFill/>
          <a:ln w="0">
            <a:noFill/>
            <a:prstDash val="solid"/>
          </a:ln>
        </p:spPr>
        <p:txBody>
          <a:bodyPr anchor="t">
            <a:noAutofit/>
          </a:bodyPr>
          <a:lstStyle/>
          <a:p>
            <a:pPr algn="l">
              <a:defRPr sz="2850" b="1">
                <a:solidFill>
                  <a:srgbClr val="102A43"/>
                </a:solidFill>
                <a:latin typeface="Arial"/>
                <a:ea typeface="Arial"/>
                <a:cs typeface="Arial"/>
              </a:defRPr>
            </a:pPr>
            <a:r>
              <a:rPr sz="2400" b="1" dirty="0">
                <a:solidFill>
                  <a:srgbClr val="102A43"/>
                </a:solidFill>
                <a:latin typeface="Arial"/>
                <a:ea typeface="Arial"/>
                <a:cs typeface="Arial"/>
              </a:rPr>
              <a:t>Publishing makes the reviewed GitHub version available in Azure</a:t>
            </a:r>
          </a:p>
        </p:txBody>
      </p:sp>
      <p:sp>
        <p:nvSpPr>
          <p:cNvPr id="3" name="Rectangle 2">
            <a:extLst>
              <a:ext uri="{FF2B5EF4-FFF2-40B4-BE49-F238E27FC236}">
                <a16:creationId xmlns:a16="http://schemas.microsoft.com/office/drawing/2014/main" id="{B72CD918-3F9D-4995-876F-807D2372ECA8}"/>
              </a:ext>
            </a:extLst>
          </p:cNvPr>
          <p:cNvSpPr>
            <a:spLocks noGrp="1"/>
          </p:cNvSpPr>
          <p:nvPr/>
        </p:nvSpPr>
        <p:spPr>
          <a:xfrm>
            <a:off x="685800" y="1285875"/>
            <a:ext cx="10820400" cy="28575"/>
          </a:xfrm>
          <a:prstGeom prst="rect">
            <a:avLst/>
          </a:prstGeom>
          <a:solidFill>
            <a:srgbClr val="FBBF24"/>
          </a:solidFill>
          <a:ln w="0">
            <a:noFill/>
            <a:prstDash val="solid"/>
          </a:ln>
        </p:spPr>
        <p:txBody>
          <a:bodyPr/>
          <a:lstStyle/>
          <a:p>
            <a:endParaRPr lang="en-US"/>
          </a:p>
        </p:txBody>
      </p:sp>
      <p:sp>
        <p:nvSpPr>
          <p:cNvPr id="4" name="Rectangle 3">
            <a:extLst>
              <a:ext uri="{FF2B5EF4-FFF2-40B4-BE49-F238E27FC236}">
                <a16:creationId xmlns:a16="http://schemas.microsoft.com/office/drawing/2014/main" id="{3FF201DD-CEBC-4507-924E-F3417A462DD7}"/>
              </a:ext>
            </a:extLst>
          </p:cNvPr>
          <p:cNvSpPr>
            <a:spLocks noGrp="1"/>
          </p:cNvSpPr>
          <p:nvPr/>
        </p:nvSpPr>
        <p:spPr>
          <a:xfrm>
            <a:off x="10839450" y="333375"/>
            <a:ext cx="666750" cy="228600"/>
          </a:xfrm>
          <a:prstGeom prst="rect">
            <a:avLst/>
          </a:prstGeom>
          <a:noFill/>
          <a:ln w="0">
            <a:noFill/>
            <a:prstDash val="solid"/>
          </a:ln>
        </p:spPr>
        <p:txBody>
          <a:bodyPr anchor="t">
            <a:normAutofit fontScale="93214" lnSpcReduction="10000"/>
          </a:bodyPr>
          <a:lstStyle/>
          <a:p>
            <a:pPr algn="r">
              <a:defRPr sz="1050" b="0">
                <a:solidFill>
                  <a:srgbClr val="52606D"/>
                </a:solidFill>
                <a:latin typeface="Arial"/>
                <a:ea typeface="Arial"/>
                <a:cs typeface="Arial"/>
              </a:defRPr>
            </a:pPr>
            <a:r>
              <a:rPr sz="1050" b="0">
                <a:solidFill>
                  <a:srgbClr val="52606D"/>
                </a:solidFill>
                <a:latin typeface="Arial"/>
                <a:ea typeface="Arial"/>
                <a:cs typeface="Arial"/>
              </a:rPr>
              <a:t>10</a:t>
            </a:r>
          </a:p>
        </p:txBody>
      </p:sp>
      <p:sp>
        <p:nvSpPr>
          <p:cNvPr id="5" name="Rectangle 4">
            <a:extLst>
              <a:ext uri="{FF2B5EF4-FFF2-40B4-BE49-F238E27FC236}">
                <a16:creationId xmlns:a16="http://schemas.microsoft.com/office/drawing/2014/main" id="{F4B817D0-7204-4200-BC10-E3E080A3F60D}"/>
              </a:ext>
            </a:extLst>
          </p:cNvPr>
          <p:cNvSpPr>
            <a:spLocks noGrp="1"/>
          </p:cNvSpPr>
          <p:nvPr/>
        </p:nvSpPr>
        <p:spPr>
          <a:xfrm>
            <a:off x="685800" y="2047875"/>
            <a:ext cx="523875" cy="476250"/>
          </a:xfrm>
          <a:prstGeom prst="rect">
            <a:avLst/>
          </a:prstGeom>
          <a:noFill/>
          <a:ln w="0">
            <a:noFill/>
            <a:prstDash val="solid"/>
          </a:ln>
        </p:spPr>
        <p:txBody>
          <a:bodyPr anchor="t">
            <a:normAutofit fontScale="96096" lnSpcReduction="10000"/>
          </a:bodyPr>
          <a:lstStyle/>
          <a:p>
            <a:pPr algn="l">
              <a:defRPr sz="2850" b="1">
                <a:solidFill>
                  <a:srgbClr val="FBBF24"/>
                </a:solidFill>
                <a:latin typeface="Arial"/>
                <a:ea typeface="Arial"/>
                <a:cs typeface="Arial"/>
              </a:defRPr>
            </a:pPr>
            <a:r>
              <a:rPr sz="2850" b="1">
                <a:solidFill>
                  <a:srgbClr val="FBBF24"/>
                </a:solidFill>
                <a:latin typeface="Arial"/>
                <a:ea typeface="Arial"/>
                <a:cs typeface="Arial"/>
              </a:rPr>
              <a:t>1</a:t>
            </a:r>
          </a:p>
        </p:txBody>
      </p:sp>
      <p:sp>
        <p:nvSpPr>
          <p:cNvPr id="6" name="Rectangle 5">
            <a:extLst>
              <a:ext uri="{FF2B5EF4-FFF2-40B4-BE49-F238E27FC236}">
                <a16:creationId xmlns:a16="http://schemas.microsoft.com/office/drawing/2014/main" id="{BF11F004-F0CD-46D3-A61E-FBFC3313377A}"/>
              </a:ext>
            </a:extLst>
          </p:cNvPr>
          <p:cNvSpPr>
            <a:spLocks noGrp="1"/>
          </p:cNvSpPr>
          <p:nvPr/>
        </p:nvSpPr>
        <p:spPr>
          <a:xfrm>
            <a:off x="685800" y="2667000"/>
            <a:ext cx="2286000" cy="2000250"/>
          </a:xfrm>
          <a:prstGeom prst="rect">
            <a:avLst/>
          </a:prstGeom>
          <a:solidFill>
            <a:srgbClr val="F4F7FA"/>
          </a:solidFill>
          <a:ln w="9525">
            <a:solidFill>
              <a:srgbClr val="CBD5E1"/>
            </a:solidFill>
            <a:prstDash val="solid"/>
          </a:ln>
        </p:spPr>
        <p:txBody>
          <a:bodyPr/>
          <a:lstStyle/>
          <a:p>
            <a:endParaRPr lang="en-US"/>
          </a:p>
        </p:txBody>
      </p:sp>
      <p:sp>
        <p:nvSpPr>
          <p:cNvPr id="7" name="Rectangle 6">
            <a:extLst>
              <a:ext uri="{FF2B5EF4-FFF2-40B4-BE49-F238E27FC236}">
                <a16:creationId xmlns:a16="http://schemas.microsoft.com/office/drawing/2014/main" id="{A09C5E53-5595-47F6-BF7E-9E719AD21A1E}"/>
              </a:ext>
            </a:extLst>
          </p:cNvPr>
          <p:cNvSpPr>
            <a:spLocks noGrp="1"/>
          </p:cNvSpPr>
          <p:nvPr/>
        </p:nvSpPr>
        <p:spPr>
          <a:xfrm>
            <a:off x="876300" y="2952750"/>
            <a:ext cx="1905000" cy="381000"/>
          </a:xfrm>
          <a:prstGeom prst="rect">
            <a:avLst/>
          </a:prstGeom>
          <a:noFill/>
          <a:ln w="0">
            <a:noFill/>
            <a:prstDash val="solid"/>
          </a:ln>
        </p:spPr>
        <p:txBody>
          <a:bodyPr anchor="t">
            <a:normAutofit/>
          </a:bodyPr>
          <a:lstStyle/>
          <a:p>
            <a:pPr algn="l">
              <a:defRPr sz="1875" b="1">
                <a:solidFill>
                  <a:srgbClr val="003B66"/>
                </a:solidFill>
                <a:latin typeface="Arial"/>
                <a:ea typeface="Arial"/>
                <a:cs typeface="Arial"/>
              </a:defRPr>
            </a:pPr>
            <a:r>
              <a:rPr sz="1875" b="1">
                <a:solidFill>
                  <a:srgbClr val="003B66"/>
                </a:solidFill>
                <a:latin typeface="Arial"/>
                <a:ea typeface="Arial"/>
                <a:cs typeface="Arial"/>
              </a:rPr>
              <a:t>Confirm</a:t>
            </a:r>
          </a:p>
        </p:txBody>
      </p:sp>
      <p:sp>
        <p:nvSpPr>
          <p:cNvPr id="8" name="Rectangle 7">
            <a:extLst>
              <a:ext uri="{FF2B5EF4-FFF2-40B4-BE49-F238E27FC236}">
                <a16:creationId xmlns:a16="http://schemas.microsoft.com/office/drawing/2014/main" id="{F3B34097-C53A-4400-9412-BDDC2787E598}"/>
              </a:ext>
            </a:extLst>
          </p:cNvPr>
          <p:cNvSpPr>
            <a:spLocks noGrp="1"/>
          </p:cNvSpPr>
          <p:nvPr/>
        </p:nvSpPr>
        <p:spPr>
          <a:xfrm>
            <a:off x="876300" y="3562350"/>
            <a:ext cx="1885950" cy="876300"/>
          </a:xfrm>
          <a:prstGeom prst="rect">
            <a:avLst/>
          </a:prstGeom>
          <a:noFill/>
          <a:ln w="0">
            <a:noFill/>
            <a:prstDash val="solid"/>
          </a:ln>
        </p:spPr>
        <p:txBody>
          <a:bodyPr anchor="t">
            <a:normAutofit fontScale="94268"/>
          </a:bodyPr>
          <a:lstStyle/>
          <a:p>
            <a:pPr algn="l">
              <a:defRPr sz="1275" b="0">
                <a:solidFill>
                  <a:srgbClr val="52606D"/>
                </a:solidFill>
                <a:latin typeface="Arial"/>
                <a:ea typeface="Arial"/>
                <a:cs typeface="Arial"/>
              </a:defRPr>
            </a:pPr>
            <a:r>
              <a:rPr sz="1275" b="0">
                <a:solidFill>
                  <a:srgbClr val="52606D"/>
                </a:solidFill>
                <a:latin typeface="Arial"/>
                <a:ea typeface="Arial"/>
                <a:cs typeface="Arial"/>
              </a:rPr>
              <a:t>The repository is ready, required settings are present, and the intended code is pushed.</a:t>
            </a:r>
          </a:p>
        </p:txBody>
      </p:sp>
      <p:sp>
        <p:nvSpPr>
          <p:cNvPr id="9" name="Rectangle 8">
            <a:extLst>
              <a:ext uri="{FF2B5EF4-FFF2-40B4-BE49-F238E27FC236}">
                <a16:creationId xmlns:a16="http://schemas.microsoft.com/office/drawing/2014/main" id="{2DBAE1B3-486D-4498-B968-DB366AEADEEC}"/>
              </a:ext>
            </a:extLst>
          </p:cNvPr>
          <p:cNvSpPr>
            <a:spLocks noGrp="1"/>
          </p:cNvSpPr>
          <p:nvPr/>
        </p:nvSpPr>
        <p:spPr>
          <a:xfrm>
            <a:off x="3400425" y="2047875"/>
            <a:ext cx="523875" cy="476250"/>
          </a:xfrm>
          <a:prstGeom prst="rect">
            <a:avLst/>
          </a:prstGeom>
          <a:noFill/>
          <a:ln w="0">
            <a:noFill/>
            <a:prstDash val="solid"/>
          </a:ln>
        </p:spPr>
        <p:txBody>
          <a:bodyPr anchor="t">
            <a:normAutofit fontScale="96096" lnSpcReduction="10000"/>
          </a:bodyPr>
          <a:lstStyle/>
          <a:p>
            <a:pPr algn="l">
              <a:defRPr sz="2850" b="1">
                <a:solidFill>
                  <a:srgbClr val="FBBF24"/>
                </a:solidFill>
                <a:latin typeface="Arial"/>
                <a:ea typeface="Arial"/>
                <a:cs typeface="Arial"/>
              </a:defRPr>
            </a:pPr>
            <a:r>
              <a:rPr sz="2850" b="1">
                <a:solidFill>
                  <a:srgbClr val="FBBF24"/>
                </a:solidFill>
                <a:latin typeface="Arial"/>
                <a:ea typeface="Arial"/>
                <a:cs typeface="Arial"/>
              </a:rPr>
              <a:t>2</a:t>
            </a:r>
          </a:p>
        </p:txBody>
      </p:sp>
      <p:sp>
        <p:nvSpPr>
          <p:cNvPr id="10" name="Rectangle 9">
            <a:extLst>
              <a:ext uri="{FF2B5EF4-FFF2-40B4-BE49-F238E27FC236}">
                <a16:creationId xmlns:a16="http://schemas.microsoft.com/office/drawing/2014/main" id="{D092AF1A-50CF-4BE3-B896-913A1B0FBB3F}"/>
              </a:ext>
            </a:extLst>
          </p:cNvPr>
          <p:cNvSpPr>
            <a:spLocks noGrp="1"/>
          </p:cNvSpPr>
          <p:nvPr/>
        </p:nvSpPr>
        <p:spPr>
          <a:xfrm>
            <a:off x="3400425" y="2667000"/>
            <a:ext cx="2286000" cy="2000250"/>
          </a:xfrm>
          <a:prstGeom prst="rect">
            <a:avLst/>
          </a:prstGeom>
          <a:solidFill>
            <a:srgbClr val="F4F7FA"/>
          </a:solidFill>
          <a:ln w="9525">
            <a:solidFill>
              <a:srgbClr val="CBD5E1"/>
            </a:solidFill>
            <a:prstDash val="solid"/>
          </a:ln>
        </p:spPr>
        <p:txBody>
          <a:bodyPr/>
          <a:lstStyle/>
          <a:p>
            <a:endParaRPr lang="en-US"/>
          </a:p>
        </p:txBody>
      </p:sp>
      <p:sp>
        <p:nvSpPr>
          <p:cNvPr id="11" name="Rectangle 10">
            <a:extLst>
              <a:ext uri="{FF2B5EF4-FFF2-40B4-BE49-F238E27FC236}">
                <a16:creationId xmlns:a16="http://schemas.microsoft.com/office/drawing/2014/main" id="{2EADD28C-5E00-46E5-92F1-94B8BD3A1460}"/>
              </a:ext>
            </a:extLst>
          </p:cNvPr>
          <p:cNvSpPr>
            <a:spLocks noGrp="1"/>
          </p:cNvSpPr>
          <p:nvPr/>
        </p:nvSpPr>
        <p:spPr>
          <a:xfrm>
            <a:off x="3590925" y="2952750"/>
            <a:ext cx="1905000" cy="381000"/>
          </a:xfrm>
          <a:prstGeom prst="rect">
            <a:avLst/>
          </a:prstGeom>
          <a:noFill/>
          <a:ln w="0">
            <a:noFill/>
            <a:prstDash val="solid"/>
          </a:ln>
        </p:spPr>
        <p:txBody>
          <a:bodyPr anchor="t">
            <a:normAutofit/>
          </a:bodyPr>
          <a:lstStyle/>
          <a:p>
            <a:pPr algn="l">
              <a:defRPr sz="1875" b="1">
                <a:solidFill>
                  <a:srgbClr val="003B66"/>
                </a:solidFill>
                <a:latin typeface="Arial"/>
                <a:ea typeface="Arial"/>
                <a:cs typeface="Arial"/>
              </a:defRPr>
            </a:pPr>
            <a:r>
              <a:rPr sz="1875" b="1">
                <a:solidFill>
                  <a:srgbClr val="003B66"/>
                </a:solidFill>
                <a:latin typeface="Arial"/>
                <a:ea typeface="Arial"/>
                <a:cs typeface="Arial"/>
              </a:rPr>
              <a:t>Publish</a:t>
            </a:r>
          </a:p>
        </p:txBody>
      </p:sp>
      <p:sp>
        <p:nvSpPr>
          <p:cNvPr id="12" name="Rectangle 11">
            <a:extLst>
              <a:ext uri="{FF2B5EF4-FFF2-40B4-BE49-F238E27FC236}">
                <a16:creationId xmlns:a16="http://schemas.microsoft.com/office/drawing/2014/main" id="{4F856CA0-0186-4A3B-956B-D9974332205D}"/>
              </a:ext>
            </a:extLst>
          </p:cNvPr>
          <p:cNvSpPr>
            <a:spLocks noGrp="1"/>
          </p:cNvSpPr>
          <p:nvPr/>
        </p:nvSpPr>
        <p:spPr>
          <a:xfrm>
            <a:off x="3590925" y="3562350"/>
            <a:ext cx="1885950" cy="876300"/>
          </a:xfrm>
          <a:prstGeom prst="rect">
            <a:avLst/>
          </a:prstGeom>
          <a:noFill/>
          <a:ln w="0">
            <a:noFill/>
            <a:prstDash val="solid"/>
          </a:ln>
        </p:spPr>
        <p:txBody>
          <a:bodyPr anchor="t">
            <a:normAutofit/>
          </a:bodyPr>
          <a:lstStyle/>
          <a:p>
            <a:pPr algn="l">
              <a:defRPr sz="1275" b="0">
                <a:solidFill>
                  <a:srgbClr val="52606D"/>
                </a:solidFill>
                <a:latin typeface="Arial"/>
                <a:ea typeface="Arial"/>
                <a:cs typeface="Arial"/>
              </a:defRPr>
            </a:pPr>
            <a:r>
              <a:rPr sz="1275" b="0">
                <a:solidFill>
                  <a:srgbClr val="52606D"/>
                </a:solidFill>
                <a:latin typeface="Arial"/>
                <a:ea typeface="Arial"/>
                <a:cs typeface="Arial"/>
              </a:rPr>
              <a:t>Start the publishing action from the app details page.</a:t>
            </a:r>
          </a:p>
        </p:txBody>
      </p:sp>
      <p:sp>
        <p:nvSpPr>
          <p:cNvPr id="13" name="Rectangle 12">
            <a:extLst>
              <a:ext uri="{FF2B5EF4-FFF2-40B4-BE49-F238E27FC236}">
                <a16:creationId xmlns:a16="http://schemas.microsoft.com/office/drawing/2014/main" id="{3565BB24-6CC1-411F-A694-A6066B385476}"/>
              </a:ext>
            </a:extLst>
          </p:cNvPr>
          <p:cNvSpPr>
            <a:spLocks noGrp="1"/>
          </p:cNvSpPr>
          <p:nvPr/>
        </p:nvSpPr>
        <p:spPr>
          <a:xfrm>
            <a:off x="6115050" y="2047875"/>
            <a:ext cx="523875" cy="476250"/>
          </a:xfrm>
          <a:prstGeom prst="rect">
            <a:avLst/>
          </a:prstGeom>
          <a:noFill/>
          <a:ln w="0">
            <a:noFill/>
            <a:prstDash val="solid"/>
          </a:ln>
        </p:spPr>
        <p:txBody>
          <a:bodyPr anchor="t">
            <a:normAutofit fontScale="96096" lnSpcReduction="10000"/>
          </a:bodyPr>
          <a:lstStyle/>
          <a:p>
            <a:pPr algn="l">
              <a:defRPr sz="2850" b="1">
                <a:solidFill>
                  <a:srgbClr val="FBBF24"/>
                </a:solidFill>
                <a:latin typeface="Arial"/>
                <a:ea typeface="Arial"/>
                <a:cs typeface="Arial"/>
              </a:defRPr>
            </a:pPr>
            <a:r>
              <a:rPr sz="2850" b="1">
                <a:solidFill>
                  <a:srgbClr val="FBBF24"/>
                </a:solidFill>
                <a:latin typeface="Arial"/>
                <a:ea typeface="Arial"/>
                <a:cs typeface="Arial"/>
              </a:rPr>
              <a:t>3</a:t>
            </a:r>
          </a:p>
        </p:txBody>
      </p:sp>
      <p:sp>
        <p:nvSpPr>
          <p:cNvPr id="14" name="Rectangle 13">
            <a:extLst>
              <a:ext uri="{FF2B5EF4-FFF2-40B4-BE49-F238E27FC236}">
                <a16:creationId xmlns:a16="http://schemas.microsoft.com/office/drawing/2014/main" id="{742428F4-0A9A-42E6-AF5C-DBEAC485E792}"/>
              </a:ext>
            </a:extLst>
          </p:cNvPr>
          <p:cNvSpPr>
            <a:spLocks noGrp="1"/>
          </p:cNvSpPr>
          <p:nvPr/>
        </p:nvSpPr>
        <p:spPr>
          <a:xfrm>
            <a:off x="6115050" y="2667000"/>
            <a:ext cx="2286000" cy="2000250"/>
          </a:xfrm>
          <a:prstGeom prst="rect">
            <a:avLst/>
          </a:prstGeom>
          <a:solidFill>
            <a:srgbClr val="F4F7FA"/>
          </a:solidFill>
          <a:ln w="9525">
            <a:solidFill>
              <a:srgbClr val="CBD5E1"/>
            </a:solidFill>
            <a:prstDash val="solid"/>
          </a:ln>
        </p:spPr>
        <p:txBody>
          <a:bodyPr/>
          <a:lstStyle/>
          <a:p>
            <a:endParaRPr lang="en-US"/>
          </a:p>
        </p:txBody>
      </p:sp>
      <p:sp>
        <p:nvSpPr>
          <p:cNvPr id="15" name="Rectangle 14">
            <a:extLst>
              <a:ext uri="{FF2B5EF4-FFF2-40B4-BE49-F238E27FC236}">
                <a16:creationId xmlns:a16="http://schemas.microsoft.com/office/drawing/2014/main" id="{881BC5C8-1D2B-427A-879C-F6A256963E64}"/>
              </a:ext>
            </a:extLst>
          </p:cNvPr>
          <p:cNvSpPr>
            <a:spLocks noGrp="1"/>
          </p:cNvSpPr>
          <p:nvPr/>
        </p:nvSpPr>
        <p:spPr>
          <a:xfrm>
            <a:off x="6305550" y="2952750"/>
            <a:ext cx="1905000" cy="381000"/>
          </a:xfrm>
          <a:prstGeom prst="rect">
            <a:avLst/>
          </a:prstGeom>
          <a:noFill/>
          <a:ln w="0">
            <a:noFill/>
            <a:prstDash val="solid"/>
          </a:ln>
        </p:spPr>
        <p:txBody>
          <a:bodyPr anchor="t">
            <a:normAutofit/>
          </a:bodyPr>
          <a:lstStyle/>
          <a:p>
            <a:pPr algn="l">
              <a:defRPr sz="1875" b="1">
                <a:solidFill>
                  <a:srgbClr val="003B66"/>
                </a:solidFill>
                <a:latin typeface="Arial"/>
                <a:ea typeface="Arial"/>
                <a:cs typeface="Arial"/>
              </a:defRPr>
            </a:pPr>
            <a:r>
              <a:rPr sz="1875" b="1">
                <a:solidFill>
                  <a:srgbClr val="003B66"/>
                </a:solidFill>
                <a:latin typeface="Arial"/>
                <a:ea typeface="Arial"/>
                <a:cs typeface="Arial"/>
              </a:rPr>
              <a:t>Test</a:t>
            </a:r>
          </a:p>
        </p:txBody>
      </p:sp>
      <p:sp>
        <p:nvSpPr>
          <p:cNvPr id="16" name="Rectangle 15">
            <a:extLst>
              <a:ext uri="{FF2B5EF4-FFF2-40B4-BE49-F238E27FC236}">
                <a16:creationId xmlns:a16="http://schemas.microsoft.com/office/drawing/2014/main" id="{77157565-7AAA-4CDF-A384-C9DA93636496}"/>
              </a:ext>
            </a:extLst>
          </p:cNvPr>
          <p:cNvSpPr>
            <a:spLocks noGrp="1"/>
          </p:cNvSpPr>
          <p:nvPr/>
        </p:nvSpPr>
        <p:spPr>
          <a:xfrm>
            <a:off x="6305550" y="3562350"/>
            <a:ext cx="1885950" cy="876300"/>
          </a:xfrm>
          <a:prstGeom prst="rect">
            <a:avLst/>
          </a:prstGeom>
          <a:noFill/>
          <a:ln w="0">
            <a:noFill/>
            <a:prstDash val="solid"/>
          </a:ln>
        </p:spPr>
        <p:txBody>
          <a:bodyPr anchor="t">
            <a:normAutofit/>
          </a:bodyPr>
          <a:lstStyle/>
          <a:p>
            <a:pPr algn="l">
              <a:defRPr sz="1275" b="0">
                <a:solidFill>
                  <a:srgbClr val="52606D"/>
                </a:solidFill>
                <a:latin typeface="Arial"/>
                <a:ea typeface="Arial"/>
                <a:cs typeface="Arial"/>
              </a:defRPr>
            </a:pPr>
            <a:r>
              <a:rPr sz="1275" b="0">
                <a:solidFill>
                  <a:srgbClr val="52606D"/>
                </a:solidFill>
                <a:latin typeface="Arial"/>
                <a:ea typeface="Arial"/>
                <a:cs typeface="Arial"/>
              </a:rPr>
              <a:t>Open the published app and try its most important task.</a:t>
            </a:r>
          </a:p>
        </p:txBody>
      </p:sp>
      <p:sp>
        <p:nvSpPr>
          <p:cNvPr id="17" name="Rectangle 16">
            <a:extLst>
              <a:ext uri="{FF2B5EF4-FFF2-40B4-BE49-F238E27FC236}">
                <a16:creationId xmlns:a16="http://schemas.microsoft.com/office/drawing/2014/main" id="{55F76C47-CE9D-43EF-8025-78E872199155}"/>
              </a:ext>
            </a:extLst>
          </p:cNvPr>
          <p:cNvSpPr>
            <a:spLocks noGrp="1"/>
          </p:cNvSpPr>
          <p:nvPr/>
        </p:nvSpPr>
        <p:spPr>
          <a:xfrm>
            <a:off x="8829675" y="2047875"/>
            <a:ext cx="523875" cy="476250"/>
          </a:xfrm>
          <a:prstGeom prst="rect">
            <a:avLst/>
          </a:prstGeom>
          <a:noFill/>
          <a:ln w="0">
            <a:noFill/>
            <a:prstDash val="solid"/>
          </a:ln>
        </p:spPr>
        <p:txBody>
          <a:bodyPr anchor="t">
            <a:normAutofit fontScale="96096" lnSpcReduction="10000"/>
          </a:bodyPr>
          <a:lstStyle/>
          <a:p>
            <a:pPr algn="l">
              <a:defRPr sz="2850" b="1">
                <a:solidFill>
                  <a:srgbClr val="FBBF24"/>
                </a:solidFill>
                <a:latin typeface="Arial"/>
                <a:ea typeface="Arial"/>
                <a:cs typeface="Arial"/>
              </a:defRPr>
            </a:pPr>
            <a:r>
              <a:rPr sz="2850" b="1">
                <a:solidFill>
                  <a:srgbClr val="FBBF24"/>
                </a:solidFill>
                <a:latin typeface="Arial"/>
                <a:ea typeface="Arial"/>
                <a:cs typeface="Arial"/>
              </a:rPr>
              <a:t>4</a:t>
            </a:r>
          </a:p>
        </p:txBody>
      </p:sp>
      <p:sp>
        <p:nvSpPr>
          <p:cNvPr id="18" name="Rectangle 17">
            <a:extLst>
              <a:ext uri="{FF2B5EF4-FFF2-40B4-BE49-F238E27FC236}">
                <a16:creationId xmlns:a16="http://schemas.microsoft.com/office/drawing/2014/main" id="{8E5B95AA-6505-4DAB-9AA8-F6600180C071}"/>
              </a:ext>
            </a:extLst>
          </p:cNvPr>
          <p:cNvSpPr>
            <a:spLocks noGrp="1"/>
          </p:cNvSpPr>
          <p:nvPr/>
        </p:nvSpPr>
        <p:spPr>
          <a:xfrm>
            <a:off x="8829675" y="2667000"/>
            <a:ext cx="2286000" cy="2000250"/>
          </a:xfrm>
          <a:prstGeom prst="rect">
            <a:avLst/>
          </a:prstGeom>
          <a:solidFill>
            <a:srgbClr val="F4F7FA"/>
          </a:solidFill>
          <a:ln w="9525">
            <a:solidFill>
              <a:srgbClr val="CBD5E1"/>
            </a:solidFill>
            <a:prstDash val="solid"/>
          </a:ln>
        </p:spPr>
        <p:txBody>
          <a:bodyPr/>
          <a:lstStyle/>
          <a:p>
            <a:endParaRPr lang="en-US"/>
          </a:p>
        </p:txBody>
      </p:sp>
      <p:sp>
        <p:nvSpPr>
          <p:cNvPr id="19" name="Rectangle 18">
            <a:extLst>
              <a:ext uri="{FF2B5EF4-FFF2-40B4-BE49-F238E27FC236}">
                <a16:creationId xmlns:a16="http://schemas.microsoft.com/office/drawing/2014/main" id="{44569F73-2239-4B15-B033-4C4285EC5A24}"/>
              </a:ext>
            </a:extLst>
          </p:cNvPr>
          <p:cNvSpPr>
            <a:spLocks noGrp="1"/>
          </p:cNvSpPr>
          <p:nvPr/>
        </p:nvSpPr>
        <p:spPr>
          <a:xfrm>
            <a:off x="9020175" y="2952750"/>
            <a:ext cx="1905000" cy="381000"/>
          </a:xfrm>
          <a:prstGeom prst="rect">
            <a:avLst/>
          </a:prstGeom>
          <a:noFill/>
          <a:ln w="0">
            <a:noFill/>
            <a:prstDash val="solid"/>
          </a:ln>
        </p:spPr>
        <p:txBody>
          <a:bodyPr anchor="t">
            <a:normAutofit/>
          </a:bodyPr>
          <a:lstStyle/>
          <a:p>
            <a:pPr algn="l">
              <a:defRPr sz="1875" b="1">
                <a:solidFill>
                  <a:srgbClr val="003B66"/>
                </a:solidFill>
                <a:latin typeface="Arial"/>
                <a:ea typeface="Arial"/>
                <a:cs typeface="Arial"/>
              </a:defRPr>
            </a:pPr>
            <a:r>
              <a:rPr sz="1875" b="1">
                <a:solidFill>
                  <a:srgbClr val="003B66"/>
                </a:solidFill>
                <a:latin typeface="Arial"/>
                <a:ea typeface="Arial"/>
                <a:cs typeface="Arial"/>
              </a:rPr>
              <a:t>Return</a:t>
            </a:r>
          </a:p>
        </p:txBody>
      </p:sp>
      <p:sp>
        <p:nvSpPr>
          <p:cNvPr id="20" name="Rectangle 19">
            <a:extLst>
              <a:ext uri="{FF2B5EF4-FFF2-40B4-BE49-F238E27FC236}">
                <a16:creationId xmlns:a16="http://schemas.microsoft.com/office/drawing/2014/main" id="{38D1ABF2-70FD-45C4-8F00-AB2DAA08FFC5}"/>
              </a:ext>
            </a:extLst>
          </p:cNvPr>
          <p:cNvSpPr>
            <a:spLocks noGrp="1"/>
          </p:cNvSpPr>
          <p:nvPr/>
        </p:nvSpPr>
        <p:spPr>
          <a:xfrm>
            <a:off x="9020175" y="3562350"/>
            <a:ext cx="1885950" cy="876300"/>
          </a:xfrm>
          <a:prstGeom prst="rect">
            <a:avLst/>
          </a:prstGeom>
          <a:noFill/>
          <a:ln w="0">
            <a:noFill/>
            <a:prstDash val="solid"/>
          </a:ln>
        </p:spPr>
        <p:txBody>
          <a:bodyPr anchor="t">
            <a:normAutofit/>
          </a:bodyPr>
          <a:lstStyle/>
          <a:p>
            <a:pPr algn="l">
              <a:defRPr sz="1275" b="0">
                <a:solidFill>
                  <a:srgbClr val="52606D"/>
                </a:solidFill>
                <a:latin typeface="Arial"/>
                <a:ea typeface="Arial"/>
                <a:cs typeface="Arial"/>
              </a:defRPr>
            </a:pPr>
            <a:r>
              <a:rPr sz="1275" b="0">
                <a:solidFill>
                  <a:srgbClr val="52606D"/>
                </a:solidFill>
                <a:latin typeface="Arial"/>
                <a:ea typeface="Arial"/>
                <a:cs typeface="Arial"/>
              </a:rPr>
              <a:t>Use My Apps to see status and manage the app over time.</a:t>
            </a:r>
          </a:p>
        </p:txBody>
      </p:sp>
      <p:sp>
        <p:nvSpPr>
          <p:cNvPr id="21" name="Rectangle 20">
            <a:extLst>
              <a:ext uri="{FF2B5EF4-FFF2-40B4-BE49-F238E27FC236}">
                <a16:creationId xmlns:a16="http://schemas.microsoft.com/office/drawing/2014/main" id="{813BC7A7-F3F4-44BE-9BBE-AF0B4CFB995B}"/>
              </a:ext>
            </a:extLst>
          </p:cNvPr>
          <p:cNvSpPr>
            <a:spLocks noGrp="1"/>
          </p:cNvSpPr>
          <p:nvPr/>
        </p:nvSpPr>
        <p:spPr>
          <a:xfrm>
            <a:off x="0" y="6705600"/>
            <a:ext cx="12192000" cy="152400"/>
          </a:xfrm>
          <a:prstGeom prst="rect">
            <a:avLst/>
          </a:prstGeom>
          <a:solidFill>
            <a:srgbClr val="003B66"/>
          </a:solidFill>
          <a:ln w="0">
            <a:noFill/>
            <a:prstDash val="solid"/>
          </a:ln>
        </p:spPr>
        <p:txBody>
          <a:bodyPr/>
          <a:lstStyle/>
          <a:p>
            <a:endParaRPr lang="en-US"/>
          </a:p>
        </p:txBody>
      </p:sp>
    </p:spTree>
    <p:extLst>
      <p:ext uri="{BB962C8B-B14F-4D97-AF65-F5344CB8AC3E}">
        <p14:creationId xmlns:p14="http://schemas.microsoft.com/office/powerpoint/2010/main" val="1866730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C5654C8-D22B-45B9-89D2-08FBF35EF6CF}"/>
              </a:ext>
            </a:extLst>
          </p:cNvPr>
          <p:cNvSpPr>
            <a:spLocks noGrp="1"/>
          </p:cNvSpPr>
          <p:nvPr/>
        </p:nvSpPr>
        <p:spPr>
          <a:xfrm>
            <a:off x="685800" y="304800"/>
            <a:ext cx="5715000" cy="209550"/>
          </a:xfrm>
          <a:prstGeom prst="rect">
            <a:avLst/>
          </a:prstGeom>
          <a:noFill/>
          <a:ln w="0">
            <a:noFill/>
            <a:prstDash val="solid"/>
          </a:ln>
        </p:spPr>
        <p:txBody>
          <a:bodyPr anchor="t">
            <a:normAutofit fontScale="86111" lnSpcReduction="10000"/>
          </a:bodyPr>
          <a:lstStyle/>
          <a:p>
            <a:pPr algn="l">
              <a:defRPr sz="900" b="1">
                <a:solidFill>
                  <a:srgbClr val="005A9C"/>
                </a:solidFill>
                <a:latin typeface="Arial"/>
                <a:ea typeface="Arial"/>
                <a:cs typeface="Arial"/>
              </a:defRPr>
            </a:pPr>
            <a:r>
              <a:rPr sz="900" b="1">
                <a:solidFill>
                  <a:srgbClr val="005A9C"/>
                </a:solidFill>
                <a:latin typeface="Arial"/>
                <a:ea typeface="Arial"/>
                <a:cs typeface="Arial"/>
              </a:rPr>
              <a:t>CEDARVILLE APP PORTAL</a:t>
            </a:r>
          </a:p>
        </p:txBody>
      </p:sp>
      <p:sp>
        <p:nvSpPr>
          <p:cNvPr id="2" name="Rectangle 1">
            <a:extLst>
              <a:ext uri="{FF2B5EF4-FFF2-40B4-BE49-F238E27FC236}">
                <a16:creationId xmlns:a16="http://schemas.microsoft.com/office/drawing/2014/main" id="{523565F5-F203-4152-9F0C-F62127D2E8DB}"/>
              </a:ext>
            </a:extLst>
          </p:cNvPr>
          <p:cNvSpPr>
            <a:spLocks noGrp="1"/>
          </p:cNvSpPr>
          <p:nvPr/>
        </p:nvSpPr>
        <p:spPr>
          <a:xfrm>
            <a:off x="685800" y="647700"/>
            <a:ext cx="10496550" cy="523875"/>
          </a:xfrm>
          <a:prstGeom prst="rect">
            <a:avLst/>
          </a:prstGeom>
          <a:noFill/>
          <a:ln w="0">
            <a:noFill/>
            <a:prstDash val="solid"/>
          </a:ln>
        </p:spPr>
        <p:txBody>
          <a:bodyPr anchor="t">
            <a:noAutofit/>
          </a:bodyPr>
          <a:lstStyle/>
          <a:p>
            <a:pPr algn="l">
              <a:defRPr sz="2850" b="1">
                <a:solidFill>
                  <a:srgbClr val="102A43"/>
                </a:solidFill>
                <a:latin typeface="Arial"/>
                <a:ea typeface="Arial"/>
                <a:cs typeface="Arial"/>
              </a:defRPr>
            </a:pPr>
            <a:r>
              <a:rPr sz="2400" b="1" dirty="0">
                <a:solidFill>
                  <a:srgbClr val="102A43"/>
                </a:solidFill>
                <a:latin typeface="Arial"/>
                <a:ea typeface="Arial"/>
                <a:cs typeface="Arial"/>
              </a:rPr>
              <a:t>My Apps is where ownership, collaboration, and maintenance continue</a:t>
            </a:r>
          </a:p>
        </p:txBody>
      </p:sp>
      <p:sp>
        <p:nvSpPr>
          <p:cNvPr id="3" name="Rectangle 2">
            <a:extLst>
              <a:ext uri="{FF2B5EF4-FFF2-40B4-BE49-F238E27FC236}">
                <a16:creationId xmlns:a16="http://schemas.microsoft.com/office/drawing/2014/main" id="{12610677-DE33-4D75-906E-5688463AED3D}"/>
              </a:ext>
            </a:extLst>
          </p:cNvPr>
          <p:cNvSpPr>
            <a:spLocks noGrp="1"/>
          </p:cNvSpPr>
          <p:nvPr/>
        </p:nvSpPr>
        <p:spPr>
          <a:xfrm>
            <a:off x="685800" y="1285875"/>
            <a:ext cx="10820400" cy="28575"/>
          </a:xfrm>
          <a:prstGeom prst="rect">
            <a:avLst/>
          </a:prstGeom>
          <a:solidFill>
            <a:srgbClr val="FBBF24"/>
          </a:solidFill>
          <a:ln w="0">
            <a:noFill/>
            <a:prstDash val="solid"/>
          </a:ln>
        </p:spPr>
        <p:txBody>
          <a:bodyPr/>
          <a:lstStyle/>
          <a:p>
            <a:endParaRPr lang="en-US"/>
          </a:p>
        </p:txBody>
      </p:sp>
      <p:sp>
        <p:nvSpPr>
          <p:cNvPr id="4" name="Rectangle 3">
            <a:extLst>
              <a:ext uri="{FF2B5EF4-FFF2-40B4-BE49-F238E27FC236}">
                <a16:creationId xmlns:a16="http://schemas.microsoft.com/office/drawing/2014/main" id="{F06A39B4-2E67-4E53-B8BA-6E013DE4E65F}"/>
              </a:ext>
            </a:extLst>
          </p:cNvPr>
          <p:cNvSpPr>
            <a:spLocks noGrp="1"/>
          </p:cNvSpPr>
          <p:nvPr/>
        </p:nvSpPr>
        <p:spPr>
          <a:xfrm>
            <a:off x="10839450" y="333375"/>
            <a:ext cx="666750" cy="228600"/>
          </a:xfrm>
          <a:prstGeom prst="rect">
            <a:avLst/>
          </a:prstGeom>
          <a:noFill/>
          <a:ln w="0">
            <a:noFill/>
            <a:prstDash val="solid"/>
          </a:ln>
        </p:spPr>
        <p:txBody>
          <a:bodyPr anchor="t">
            <a:normAutofit fontScale="93214" lnSpcReduction="10000"/>
          </a:bodyPr>
          <a:lstStyle/>
          <a:p>
            <a:pPr algn="r">
              <a:defRPr sz="1050" b="0">
                <a:solidFill>
                  <a:srgbClr val="52606D"/>
                </a:solidFill>
                <a:latin typeface="Arial"/>
                <a:ea typeface="Arial"/>
                <a:cs typeface="Arial"/>
              </a:defRPr>
            </a:pPr>
            <a:r>
              <a:rPr sz="1050" b="0">
                <a:solidFill>
                  <a:srgbClr val="52606D"/>
                </a:solidFill>
                <a:latin typeface="Arial"/>
                <a:ea typeface="Arial"/>
                <a:cs typeface="Arial"/>
              </a:rPr>
              <a:t>11</a:t>
            </a:r>
          </a:p>
        </p:txBody>
      </p:sp>
      <p:sp>
        <p:nvSpPr>
          <p:cNvPr id="5" name="Rectangle 4">
            <a:extLst>
              <a:ext uri="{FF2B5EF4-FFF2-40B4-BE49-F238E27FC236}">
                <a16:creationId xmlns:a16="http://schemas.microsoft.com/office/drawing/2014/main" id="{19C2ED7A-9DBD-47EE-BDA4-31A7DFFE86C9}"/>
              </a:ext>
            </a:extLst>
          </p:cNvPr>
          <p:cNvSpPr>
            <a:spLocks noGrp="1"/>
          </p:cNvSpPr>
          <p:nvPr/>
        </p:nvSpPr>
        <p:spPr>
          <a:xfrm>
            <a:off x="685800" y="2190750"/>
            <a:ext cx="3143250" cy="2381250"/>
          </a:xfrm>
          <a:prstGeom prst="rect">
            <a:avLst/>
          </a:prstGeom>
          <a:solidFill>
            <a:srgbClr val="F4F7FA"/>
          </a:solidFill>
          <a:ln w="9525">
            <a:solidFill>
              <a:srgbClr val="CBD5E1"/>
            </a:solidFill>
            <a:prstDash val="solid"/>
          </a:ln>
        </p:spPr>
        <p:txBody>
          <a:bodyPr/>
          <a:lstStyle/>
          <a:p>
            <a:endParaRPr lang="en-US"/>
          </a:p>
        </p:txBody>
      </p:sp>
      <p:sp>
        <p:nvSpPr>
          <p:cNvPr id="6" name="Rectangle 5">
            <a:extLst>
              <a:ext uri="{FF2B5EF4-FFF2-40B4-BE49-F238E27FC236}">
                <a16:creationId xmlns:a16="http://schemas.microsoft.com/office/drawing/2014/main" id="{97CC3068-63CE-43D0-9E1C-544C28E87DE7}"/>
              </a:ext>
            </a:extLst>
          </p:cNvPr>
          <p:cNvSpPr>
            <a:spLocks noGrp="1"/>
          </p:cNvSpPr>
          <p:nvPr/>
        </p:nvSpPr>
        <p:spPr>
          <a:xfrm>
            <a:off x="952500" y="2552700"/>
            <a:ext cx="2571750" cy="400050"/>
          </a:xfrm>
          <a:prstGeom prst="rect">
            <a:avLst/>
          </a:prstGeom>
          <a:noFill/>
          <a:ln w="0">
            <a:noFill/>
            <a:prstDash val="solid"/>
          </a:ln>
        </p:spPr>
        <p:txBody>
          <a:bodyPr anchor="t">
            <a:normAutofit fontScale="97500" lnSpcReduction="10000"/>
          </a:bodyPr>
          <a:lstStyle/>
          <a:p>
            <a:pPr algn="l">
              <a:defRPr sz="2250" b="1">
                <a:solidFill>
                  <a:srgbClr val="003B66"/>
                </a:solidFill>
                <a:latin typeface="Arial"/>
                <a:ea typeface="Arial"/>
                <a:cs typeface="Arial"/>
              </a:defRPr>
            </a:pPr>
            <a:r>
              <a:rPr sz="2250" b="1">
                <a:solidFill>
                  <a:srgbClr val="003B66"/>
                </a:solidFill>
                <a:latin typeface="Arial"/>
                <a:ea typeface="Arial"/>
                <a:cs typeface="Arial"/>
              </a:rPr>
              <a:t>Share</a:t>
            </a:r>
          </a:p>
        </p:txBody>
      </p:sp>
      <p:sp>
        <p:nvSpPr>
          <p:cNvPr id="7" name="Rectangle 6">
            <a:extLst>
              <a:ext uri="{FF2B5EF4-FFF2-40B4-BE49-F238E27FC236}">
                <a16:creationId xmlns:a16="http://schemas.microsoft.com/office/drawing/2014/main" id="{87190125-76C6-4C38-8FDB-6AE309D43195}"/>
              </a:ext>
            </a:extLst>
          </p:cNvPr>
          <p:cNvSpPr>
            <a:spLocks noGrp="1"/>
          </p:cNvSpPr>
          <p:nvPr/>
        </p:nvSpPr>
        <p:spPr>
          <a:xfrm>
            <a:off x="952500" y="3238500"/>
            <a:ext cx="2524125" cy="952500"/>
          </a:xfrm>
          <a:prstGeom prst="rect">
            <a:avLst/>
          </a:prstGeom>
          <a:noFill/>
          <a:ln w="0">
            <a:noFill/>
            <a:prstDash val="solid"/>
          </a:ln>
        </p:spPr>
        <p:txBody>
          <a:bodyPr anchor="t">
            <a:normAutofit fontScale="94167"/>
          </a:bodyPr>
          <a:lstStyle/>
          <a:p>
            <a:pPr algn="l">
              <a:defRPr sz="1500" b="0">
                <a:solidFill>
                  <a:srgbClr val="52606D"/>
                </a:solidFill>
                <a:latin typeface="Arial"/>
                <a:ea typeface="Arial"/>
                <a:cs typeface="Arial"/>
              </a:defRPr>
            </a:pPr>
            <a:r>
              <a:rPr sz="1500" b="0">
                <a:solidFill>
                  <a:srgbClr val="52606D"/>
                </a:solidFill>
                <a:latin typeface="Arial"/>
                <a:ea typeface="Arial"/>
                <a:cs typeface="Arial"/>
              </a:rPr>
              <a:t>Invite Cedarville coworkers as portal collaborators. GitHub access is requested separately.</a:t>
            </a:r>
          </a:p>
        </p:txBody>
      </p:sp>
      <p:sp>
        <p:nvSpPr>
          <p:cNvPr id="8" name="Rectangle 7">
            <a:extLst>
              <a:ext uri="{FF2B5EF4-FFF2-40B4-BE49-F238E27FC236}">
                <a16:creationId xmlns:a16="http://schemas.microsoft.com/office/drawing/2014/main" id="{1DBCDCDE-AF5E-4BC0-BF2D-4A15257B519C}"/>
              </a:ext>
            </a:extLst>
          </p:cNvPr>
          <p:cNvSpPr>
            <a:spLocks noGrp="1"/>
          </p:cNvSpPr>
          <p:nvPr/>
        </p:nvSpPr>
        <p:spPr>
          <a:xfrm>
            <a:off x="4286250" y="2190750"/>
            <a:ext cx="3143250" cy="2381250"/>
          </a:xfrm>
          <a:prstGeom prst="rect">
            <a:avLst/>
          </a:prstGeom>
          <a:solidFill>
            <a:srgbClr val="F4F7FA"/>
          </a:solidFill>
          <a:ln w="9525">
            <a:solidFill>
              <a:srgbClr val="CBD5E1"/>
            </a:solidFill>
            <a:prstDash val="solid"/>
          </a:ln>
        </p:spPr>
        <p:txBody>
          <a:bodyPr/>
          <a:lstStyle/>
          <a:p>
            <a:endParaRPr lang="en-US"/>
          </a:p>
        </p:txBody>
      </p:sp>
      <p:sp>
        <p:nvSpPr>
          <p:cNvPr id="9" name="Rectangle 8">
            <a:extLst>
              <a:ext uri="{FF2B5EF4-FFF2-40B4-BE49-F238E27FC236}">
                <a16:creationId xmlns:a16="http://schemas.microsoft.com/office/drawing/2014/main" id="{8C77151D-D20B-44F8-BD2E-601AEA320936}"/>
              </a:ext>
            </a:extLst>
          </p:cNvPr>
          <p:cNvSpPr>
            <a:spLocks noGrp="1"/>
          </p:cNvSpPr>
          <p:nvPr/>
        </p:nvSpPr>
        <p:spPr>
          <a:xfrm>
            <a:off x="4552950" y="2552700"/>
            <a:ext cx="2571750" cy="400050"/>
          </a:xfrm>
          <a:prstGeom prst="rect">
            <a:avLst/>
          </a:prstGeom>
          <a:noFill/>
          <a:ln w="0">
            <a:noFill/>
            <a:prstDash val="solid"/>
          </a:ln>
        </p:spPr>
        <p:txBody>
          <a:bodyPr anchor="t">
            <a:normAutofit fontScale="97500" lnSpcReduction="10000"/>
          </a:bodyPr>
          <a:lstStyle/>
          <a:p>
            <a:pPr algn="l">
              <a:defRPr sz="2250" b="1">
                <a:solidFill>
                  <a:srgbClr val="003B66"/>
                </a:solidFill>
                <a:latin typeface="Arial"/>
                <a:ea typeface="Arial"/>
                <a:cs typeface="Arial"/>
              </a:defRPr>
            </a:pPr>
            <a:r>
              <a:rPr sz="2250" b="1">
                <a:solidFill>
                  <a:srgbClr val="003B66"/>
                </a:solidFill>
                <a:latin typeface="Arial"/>
                <a:ea typeface="Arial"/>
                <a:cs typeface="Arial"/>
              </a:rPr>
              <a:t>Maintain</a:t>
            </a:r>
          </a:p>
        </p:txBody>
      </p:sp>
      <p:sp>
        <p:nvSpPr>
          <p:cNvPr id="10" name="Rectangle 9">
            <a:extLst>
              <a:ext uri="{FF2B5EF4-FFF2-40B4-BE49-F238E27FC236}">
                <a16:creationId xmlns:a16="http://schemas.microsoft.com/office/drawing/2014/main" id="{6F4DDFD2-D9FD-424D-ADD5-D34261DBFC1D}"/>
              </a:ext>
            </a:extLst>
          </p:cNvPr>
          <p:cNvSpPr>
            <a:spLocks noGrp="1"/>
          </p:cNvSpPr>
          <p:nvPr/>
        </p:nvSpPr>
        <p:spPr>
          <a:xfrm>
            <a:off x="4552950" y="3238500"/>
            <a:ext cx="2524125" cy="952500"/>
          </a:xfrm>
          <a:prstGeom prst="rect">
            <a:avLst/>
          </a:prstGeom>
          <a:noFill/>
          <a:ln w="0">
            <a:noFill/>
            <a:prstDash val="solid"/>
          </a:ln>
        </p:spPr>
        <p:txBody>
          <a:bodyPr anchor="t">
            <a:normAutofit fontScale="94167"/>
          </a:bodyPr>
          <a:lstStyle/>
          <a:p>
            <a:pPr algn="l">
              <a:defRPr sz="1500" b="0">
                <a:solidFill>
                  <a:srgbClr val="52606D"/>
                </a:solidFill>
                <a:latin typeface="Arial"/>
                <a:ea typeface="Arial"/>
                <a:cs typeface="Arial"/>
              </a:defRPr>
            </a:pPr>
            <a:r>
              <a:rPr sz="1500" b="0" dirty="0">
                <a:solidFill>
                  <a:srgbClr val="52606D"/>
                </a:solidFill>
                <a:latin typeface="Arial"/>
                <a:ea typeface="Arial"/>
                <a:cs typeface="Arial"/>
              </a:rPr>
              <a:t>Check status, manage environment variables, and repair setup when needed.</a:t>
            </a:r>
          </a:p>
        </p:txBody>
      </p:sp>
      <p:sp>
        <p:nvSpPr>
          <p:cNvPr id="11" name="Rectangle 10">
            <a:extLst>
              <a:ext uri="{FF2B5EF4-FFF2-40B4-BE49-F238E27FC236}">
                <a16:creationId xmlns:a16="http://schemas.microsoft.com/office/drawing/2014/main" id="{1EC4B702-936B-4DD2-AA5F-B80D836ECAD5}"/>
              </a:ext>
            </a:extLst>
          </p:cNvPr>
          <p:cNvSpPr>
            <a:spLocks noGrp="1"/>
          </p:cNvSpPr>
          <p:nvPr/>
        </p:nvSpPr>
        <p:spPr>
          <a:xfrm>
            <a:off x="7886700" y="2190750"/>
            <a:ext cx="3143250" cy="2381250"/>
          </a:xfrm>
          <a:prstGeom prst="rect">
            <a:avLst/>
          </a:prstGeom>
          <a:solidFill>
            <a:srgbClr val="F4F7FA"/>
          </a:solidFill>
          <a:ln w="9525">
            <a:solidFill>
              <a:srgbClr val="CBD5E1"/>
            </a:solidFill>
            <a:prstDash val="solid"/>
          </a:ln>
        </p:spPr>
        <p:txBody>
          <a:bodyPr/>
          <a:lstStyle/>
          <a:p>
            <a:endParaRPr lang="en-US"/>
          </a:p>
        </p:txBody>
      </p:sp>
      <p:sp>
        <p:nvSpPr>
          <p:cNvPr id="12" name="Rectangle 11">
            <a:extLst>
              <a:ext uri="{FF2B5EF4-FFF2-40B4-BE49-F238E27FC236}">
                <a16:creationId xmlns:a16="http://schemas.microsoft.com/office/drawing/2014/main" id="{24FDB80E-0190-41E0-995D-E44EE9D77F1B}"/>
              </a:ext>
            </a:extLst>
          </p:cNvPr>
          <p:cNvSpPr>
            <a:spLocks noGrp="1"/>
          </p:cNvSpPr>
          <p:nvPr/>
        </p:nvSpPr>
        <p:spPr>
          <a:xfrm>
            <a:off x="8153400" y="2552700"/>
            <a:ext cx="2571750" cy="400050"/>
          </a:xfrm>
          <a:prstGeom prst="rect">
            <a:avLst/>
          </a:prstGeom>
          <a:noFill/>
          <a:ln w="0">
            <a:noFill/>
            <a:prstDash val="solid"/>
          </a:ln>
        </p:spPr>
        <p:txBody>
          <a:bodyPr anchor="t">
            <a:normAutofit fontScale="97500" lnSpcReduction="10000"/>
          </a:bodyPr>
          <a:lstStyle/>
          <a:p>
            <a:pPr algn="l">
              <a:defRPr sz="2250" b="1">
                <a:solidFill>
                  <a:srgbClr val="003B66"/>
                </a:solidFill>
                <a:latin typeface="Arial"/>
                <a:ea typeface="Arial"/>
                <a:cs typeface="Arial"/>
              </a:defRPr>
            </a:pPr>
            <a:r>
              <a:rPr sz="2250" b="1">
                <a:solidFill>
                  <a:srgbClr val="003B66"/>
                </a:solidFill>
                <a:latin typeface="Arial"/>
                <a:ea typeface="Arial"/>
                <a:cs typeface="Arial"/>
              </a:rPr>
              <a:t>Protect</a:t>
            </a:r>
          </a:p>
        </p:txBody>
      </p:sp>
      <p:sp>
        <p:nvSpPr>
          <p:cNvPr id="13" name="Rectangle 12">
            <a:extLst>
              <a:ext uri="{FF2B5EF4-FFF2-40B4-BE49-F238E27FC236}">
                <a16:creationId xmlns:a16="http://schemas.microsoft.com/office/drawing/2014/main" id="{DA0497CC-8348-41E5-A515-7D3F53BA4E7F}"/>
              </a:ext>
            </a:extLst>
          </p:cNvPr>
          <p:cNvSpPr>
            <a:spLocks noGrp="1"/>
          </p:cNvSpPr>
          <p:nvPr/>
        </p:nvSpPr>
        <p:spPr>
          <a:xfrm>
            <a:off x="8153400" y="3238500"/>
            <a:ext cx="2524125" cy="952500"/>
          </a:xfrm>
          <a:prstGeom prst="rect">
            <a:avLst/>
          </a:prstGeom>
          <a:noFill/>
          <a:ln w="0">
            <a:noFill/>
            <a:prstDash val="solid"/>
          </a:ln>
        </p:spPr>
        <p:txBody>
          <a:bodyPr anchor="t">
            <a:normAutofit/>
          </a:bodyPr>
          <a:lstStyle/>
          <a:p>
            <a:pPr algn="l">
              <a:defRPr sz="1500" b="0">
                <a:solidFill>
                  <a:srgbClr val="52606D"/>
                </a:solidFill>
                <a:latin typeface="Arial"/>
                <a:ea typeface="Arial"/>
                <a:cs typeface="Arial"/>
              </a:defRPr>
            </a:pPr>
            <a:r>
              <a:rPr sz="1500" b="0">
                <a:solidFill>
                  <a:srgbClr val="52606D"/>
                </a:solidFill>
                <a:latin typeface="Arial"/>
                <a:ea typeface="Arial"/>
                <a:cs typeface="Arial"/>
              </a:rPr>
              <a:t>Keep secrets out of code, screenshots, chat, email, and support tickets.</a:t>
            </a:r>
          </a:p>
        </p:txBody>
      </p:sp>
      <p:sp>
        <p:nvSpPr>
          <p:cNvPr id="14" name="Rectangle 13">
            <a:extLst>
              <a:ext uri="{FF2B5EF4-FFF2-40B4-BE49-F238E27FC236}">
                <a16:creationId xmlns:a16="http://schemas.microsoft.com/office/drawing/2014/main" id="{25F4B9FA-E5B7-43D7-870A-A5402603DA90}"/>
              </a:ext>
            </a:extLst>
          </p:cNvPr>
          <p:cNvSpPr>
            <a:spLocks noGrp="1"/>
          </p:cNvSpPr>
          <p:nvPr/>
        </p:nvSpPr>
        <p:spPr>
          <a:xfrm>
            <a:off x="904875" y="5286375"/>
            <a:ext cx="10096500" cy="400050"/>
          </a:xfrm>
          <a:prstGeom prst="rect">
            <a:avLst/>
          </a:prstGeom>
          <a:noFill/>
          <a:ln w="0">
            <a:noFill/>
            <a:prstDash val="solid"/>
          </a:ln>
        </p:spPr>
        <p:txBody>
          <a:bodyPr anchor="t">
            <a:normAutofit fontScale="83120" lnSpcReduction="10000"/>
          </a:bodyPr>
          <a:lstStyle/>
          <a:p>
            <a:pPr algn="ctr">
              <a:defRPr sz="1650" b="1">
                <a:solidFill>
                  <a:srgbClr val="237A57"/>
                </a:solidFill>
                <a:latin typeface="Arial"/>
                <a:ea typeface="Arial"/>
                <a:cs typeface="Arial"/>
              </a:defRPr>
            </a:pPr>
            <a:r>
              <a:rPr sz="1650" b="1">
                <a:solidFill>
                  <a:srgbClr val="237A57"/>
                </a:solidFill>
                <a:latin typeface="Arial"/>
                <a:ea typeface="Arial"/>
                <a:cs typeface="Arial"/>
              </a:rPr>
              <a:t>For help: share the app name, support reference, approximate time, and exact message—never secret values.</a:t>
            </a:r>
          </a:p>
        </p:txBody>
      </p:sp>
      <p:sp>
        <p:nvSpPr>
          <p:cNvPr id="15" name="Rectangle 14">
            <a:extLst>
              <a:ext uri="{FF2B5EF4-FFF2-40B4-BE49-F238E27FC236}">
                <a16:creationId xmlns:a16="http://schemas.microsoft.com/office/drawing/2014/main" id="{6E144A0A-D9DD-4B43-8797-4BAA9E35B78B}"/>
              </a:ext>
            </a:extLst>
          </p:cNvPr>
          <p:cNvSpPr>
            <a:spLocks noGrp="1"/>
          </p:cNvSpPr>
          <p:nvPr/>
        </p:nvSpPr>
        <p:spPr>
          <a:xfrm>
            <a:off x="0" y="6705600"/>
            <a:ext cx="12192000" cy="152400"/>
          </a:xfrm>
          <a:prstGeom prst="rect">
            <a:avLst/>
          </a:prstGeom>
          <a:solidFill>
            <a:srgbClr val="003B66"/>
          </a:solidFill>
          <a:ln w="0">
            <a:noFill/>
            <a:prstDash val="solid"/>
          </a:ln>
        </p:spPr>
        <p:txBody>
          <a:bodyPr/>
          <a:lstStyle/>
          <a:p>
            <a:endParaRPr lang="en-US"/>
          </a:p>
        </p:txBody>
      </p:sp>
    </p:spTree>
    <p:extLst>
      <p:ext uri="{BB962C8B-B14F-4D97-AF65-F5344CB8AC3E}">
        <p14:creationId xmlns:p14="http://schemas.microsoft.com/office/powerpoint/2010/main" val="938132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3B66"/>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0F86C12-BB30-4BC1-8994-10A520288CFB}"/>
              </a:ext>
            </a:extLst>
          </p:cNvPr>
          <p:cNvSpPr>
            <a:spLocks noGrp="1"/>
          </p:cNvSpPr>
          <p:nvPr/>
        </p:nvSpPr>
        <p:spPr>
          <a:xfrm>
            <a:off x="0" y="0"/>
            <a:ext cx="12192000" cy="152400"/>
          </a:xfrm>
          <a:prstGeom prst="rect">
            <a:avLst/>
          </a:prstGeom>
          <a:solidFill>
            <a:srgbClr val="FBBF24"/>
          </a:solidFill>
          <a:ln w="0">
            <a:noFill/>
            <a:prstDash val="solid"/>
          </a:ln>
        </p:spPr>
        <p:txBody>
          <a:bodyPr/>
          <a:lstStyle/>
          <a:p>
            <a:endParaRPr lang="en-US"/>
          </a:p>
        </p:txBody>
      </p:sp>
      <p:sp>
        <p:nvSpPr>
          <p:cNvPr id="2" name="Rectangle 1">
            <a:extLst>
              <a:ext uri="{FF2B5EF4-FFF2-40B4-BE49-F238E27FC236}">
                <a16:creationId xmlns:a16="http://schemas.microsoft.com/office/drawing/2014/main" id="{49FDDEB1-7E5D-4330-A309-CB97DC15A095}"/>
              </a:ext>
            </a:extLst>
          </p:cNvPr>
          <p:cNvSpPr>
            <a:spLocks noGrp="1"/>
          </p:cNvSpPr>
          <p:nvPr/>
        </p:nvSpPr>
        <p:spPr>
          <a:xfrm>
            <a:off x="704850" y="895350"/>
            <a:ext cx="7239000" cy="666750"/>
          </a:xfrm>
          <a:prstGeom prst="rect">
            <a:avLst/>
          </a:prstGeom>
          <a:noFill/>
          <a:ln w="0">
            <a:noFill/>
            <a:prstDash val="solid"/>
          </a:ln>
        </p:spPr>
        <p:txBody>
          <a:bodyPr anchor="t">
            <a:normAutofit fontScale="93210" lnSpcReduction="10000"/>
          </a:bodyPr>
          <a:lstStyle/>
          <a:p>
            <a:pPr algn="l">
              <a:defRPr sz="4050" b="1">
                <a:solidFill>
                  <a:srgbClr val="FFFFFF"/>
                </a:solidFill>
                <a:latin typeface="Arial"/>
                <a:ea typeface="Arial"/>
                <a:cs typeface="Arial"/>
              </a:defRPr>
            </a:pPr>
            <a:r>
              <a:rPr sz="4050" b="1">
                <a:solidFill>
                  <a:srgbClr val="FFFFFF"/>
                </a:solidFill>
                <a:latin typeface="Arial"/>
                <a:ea typeface="Arial"/>
                <a:cs typeface="Arial"/>
              </a:rPr>
              <a:t>Your next move</a:t>
            </a:r>
          </a:p>
        </p:txBody>
      </p:sp>
      <p:sp>
        <p:nvSpPr>
          <p:cNvPr id="3" name="Rectangle 2">
            <a:extLst>
              <a:ext uri="{FF2B5EF4-FFF2-40B4-BE49-F238E27FC236}">
                <a16:creationId xmlns:a16="http://schemas.microsoft.com/office/drawing/2014/main" id="{E1CE8455-C399-4EC2-A642-63A19A433950}"/>
              </a:ext>
            </a:extLst>
          </p:cNvPr>
          <p:cNvSpPr>
            <a:spLocks noGrp="1"/>
          </p:cNvSpPr>
          <p:nvPr/>
        </p:nvSpPr>
        <p:spPr>
          <a:xfrm>
            <a:off x="876300" y="2019300"/>
            <a:ext cx="381000" cy="333375"/>
          </a:xfrm>
          <a:prstGeom prst="rect">
            <a:avLst/>
          </a:prstGeom>
          <a:noFill/>
          <a:ln w="0">
            <a:noFill/>
            <a:prstDash val="solid"/>
          </a:ln>
        </p:spPr>
        <p:txBody>
          <a:bodyPr anchor="t">
            <a:normAutofit fontScale="84667" lnSpcReduction="10000"/>
          </a:bodyPr>
          <a:lstStyle/>
          <a:p>
            <a:pPr algn="l">
              <a:defRPr sz="1875" b="1">
                <a:solidFill>
                  <a:srgbClr val="FBBF24"/>
                </a:solidFill>
                <a:latin typeface="Arial"/>
                <a:ea typeface="Arial"/>
                <a:cs typeface="Arial"/>
              </a:defRPr>
            </a:pPr>
            <a:r>
              <a:rPr sz="1875" b="1">
                <a:solidFill>
                  <a:srgbClr val="FBBF24"/>
                </a:solidFill>
                <a:latin typeface="Arial"/>
                <a:ea typeface="Arial"/>
                <a:cs typeface="Arial"/>
              </a:rPr>
              <a:t>1</a:t>
            </a:r>
          </a:p>
        </p:txBody>
      </p:sp>
      <p:sp>
        <p:nvSpPr>
          <p:cNvPr id="4" name="Rectangle 3">
            <a:extLst>
              <a:ext uri="{FF2B5EF4-FFF2-40B4-BE49-F238E27FC236}">
                <a16:creationId xmlns:a16="http://schemas.microsoft.com/office/drawing/2014/main" id="{5E25700A-0A44-4A52-A83C-1396E070B567}"/>
              </a:ext>
            </a:extLst>
          </p:cNvPr>
          <p:cNvSpPr>
            <a:spLocks noGrp="1"/>
          </p:cNvSpPr>
          <p:nvPr/>
        </p:nvSpPr>
        <p:spPr>
          <a:xfrm>
            <a:off x="1476375" y="1952625"/>
            <a:ext cx="8477250" cy="419100"/>
          </a:xfrm>
          <a:prstGeom prst="rect">
            <a:avLst/>
          </a:prstGeom>
          <a:noFill/>
          <a:ln w="0">
            <a:noFill/>
            <a:prstDash val="solid"/>
          </a:ln>
        </p:spPr>
        <p:txBody>
          <a:bodyPr anchor="t">
            <a:normAutofit/>
          </a:bodyPr>
          <a:lstStyle/>
          <a:p>
            <a:pPr algn="l">
              <a:defRPr sz="2025" b="0">
                <a:solidFill>
                  <a:srgbClr val="FFFFFF"/>
                </a:solidFill>
                <a:latin typeface="Arial"/>
                <a:ea typeface="Arial"/>
                <a:cs typeface="Arial"/>
              </a:defRPr>
            </a:pPr>
            <a:r>
              <a:rPr sz="2025" b="0">
                <a:solidFill>
                  <a:srgbClr val="FFFFFF"/>
                </a:solidFill>
                <a:latin typeface="Arial"/>
                <a:ea typeface="Arial"/>
                <a:cs typeface="Arial"/>
              </a:rPr>
              <a:t>Name the problem and intended users.</a:t>
            </a:r>
          </a:p>
        </p:txBody>
      </p:sp>
      <p:sp>
        <p:nvSpPr>
          <p:cNvPr id="5" name="Rectangle 4">
            <a:extLst>
              <a:ext uri="{FF2B5EF4-FFF2-40B4-BE49-F238E27FC236}">
                <a16:creationId xmlns:a16="http://schemas.microsoft.com/office/drawing/2014/main" id="{E17CBA64-9EEE-4DF4-9B23-A6FA2F092C00}"/>
              </a:ext>
            </a:extLst>
          </p:cNvPr>
          <p:cNvSpPr>
            <a:spLocks noGrp="1"/>
          </p:cNvSpPr>
          <p:nvPr/>
        </p:nvSpPr>
        <p:spPr>
          <a:xfrm>
            <a:off x="876300" y="2800350"/>
            <a:ext cx="381000" cy="333375"/>
          </a:xfrm>
          <a:prstGeom prst="rect">
            <a:avLst/>
          </a:prstGeom>
          <a:noFill/>
          <a:ln w="0">
            <a:noFill/>
            <a:prstDash val="solid"/>
          </a:ln>
        </p:spPr>
        <p:txBody>
          <a:bodyPr anchor="t">
            <a:normAutofit fontScale="84667" lnSpcReduction="10000"/>
          </a:bodyPr>
          <a:lstStyle/>
          <a:p>
            <a:pPr algn="l">
              <a:defRPr sz="1875" b="1">
                <a:solidFill>
                  <a:srgbClr val="FBBF24"/>
                </a:solidFill>
                <a:latin typeface="Arial"/>
                <a:ea typeface="Arial"/>
                <a:cs typeface="Arial"/>
              </a:defRPr>
            </a:pPr>
            <a:r>
              <a:rPr sz="1875" b="1">
                <a:solidFill>
                  <a:srgbClr val="FBBF24"/>
                </a:solidFill>
                <a:latin typeface="Arial"/>
                <a:ea typeface="Arial"/>
                <a:cs typeface="Arial"/>
              </a:rPr>
              <a:t>2</a:t>
            </a:r>
          </a:p>
        </p:txBody>
      </p:sp>
      <p:sp>
        <p:nvSpPr>
          <p:cNvPr id="6" name="Rectangle 5">
            <a:extLst>
              <a:ext uri="{FF2B5EF4-FFF2-40B4-BE49-F238E27FC236}">
                <a16:creationId xmlns:a16="http://schemas.microsoft.com/office/drawing/2014/main" id="{F6BC2AEA-8102-4154-98B9-B1E05B50CB03}"/>
              </a:ext>
            </a:extLst>
          </p:cNvPr>
          <p:cNvSpPr>
            <a:spLocks noGrp="1"/>
          </p:cNvSpPr>
          <p:nvPr/>
        </p:nvSpPr>
        <p:spPr>
          <a:xfrm>
            <a:off x="1476375" y="2733675"/>
            <a:ext cx="8477250" cy="419100"/>
          </a:xfrm>
          <a:prstGeom prst="rect">
            <a:avLst/>
          </a:prstGeom>
          <a:noFill/>
          <a:ln w="0">
            <a:noFill/>
            <a:prstDash val="solid"/>
          </a:ln>
        </p:spPr>
        <p:txBody>
          <a:bodyPr anchor="t">
            <a:normAutofit/>
          </a:bodyPr>
          <a:lstStyle/>
          <a:p>
            <a:pPr algn="l">
              <a:defRPr sz="2025" b="0">
                <a:solidFill>
                  <a:srgbClr val="FFFFFF"/>
                </a:solidFill>
                <a:latin typeface="Arial"/>
                <a:ea typeface="Arial"/>
                <a:cs typeface="Arial"/>
              </a:defRPr>
            </a:pPr>
            <a:r>
              <a:rPr sz="2025" b="0">
                <a:solidFill>
                  <a:srgbClr val="FFFFFF"/>
                </a:solidFill>
                <a:latin typeface="Arial"/>
                <a:ea typeface="Arial"/>
                <a:cs typeface="Arial"/>
              </a:rPr>
              <a:t>Choose the closest Recommended Template.</a:t>
            </a:r>
          </a:p>
        </p:txBody>
      </p:sp>
      <p:sp>
        <p:nvSpPr>
          <p:cNvPr id="7" name="Rectangle 6">
            <a:extLst>
              <a:ext uri="{FF2B5EF4-FFF2-40B4-BE49-F238E27FC236}">
                <a16:creationId xmlns:a16="http://schemas.microsoft.com/office/drawing/2014/main" id="{F5A5B1A2-C252-4B7F-8A9D-D19696DC6A39}"/>
              </a:ext>
            </a:extLst>
          </p:cNvPr>
          <p:cNvSpPr>
            <a:spLocks noGrp="1"/>
          </p:cNvSpPr>
          <p:nvPr/>
        </p:nvSpPr>
        <p:spPr>
          <a:xfrm>
            <a:off x="876300" y="3581400"/>
            <a:ext cx="381000" cy="333375"/>
          </a:xfrm>
          <a:prstGeom prst="rect">
            <a:avLst/>
          </a:prstGeom>
          <a:noFill/>
          <a:ln w="0">
            <a:noFill/>
            <a:prstDash val="solid"/>
          </a:ln>
        </p:spPr>
        <p:txBody>
          <a:bodyPr anchor="t">
            <a:normAutofit fontScale="84667" lnSpcReduction="10000"/>
          </a:bodyPr>
          <a:lstStyle/>
          <a:p>
            <a:pPr algn="l">
              <a:defRPr sz="1875" b="1">
                <a:solidFill>
                  <a:srgbClr val="FBBF24"/>
                </a:solidFill>
                <a:latin typeface="Arial"/>
                <a:ea typeface="Arial"/>
                <a:cs typeface="Arial"/>
              </a:defRPr>
            </a:pPr>
            <a:r>
              <a:rPr sz="1875" b="1">
                <a:solidFill>
                  <a:srgbClr val="FBBF24"/>
                </a:solidFill>
                <a:latin typeface="Arial"/>
                <a:ea typeface="Arial"/>
                <a:cs typeface="Arial"/>
              </a:rPr>
              <a:t>3</a:t>
            </a:r>
          </a:p>
        </p:txBody>
      </p:sp>
      <p:sp>
        <p:nvSpPr>
          <p:cNvPr id="8" name="Rectangle 7">
            <a:extLst>
              <a:ext uri="{FF2B5EF4-FFF2-40B4-BE49-F238E27FC236}">
                <a16:creationId xmlns:a16="http://schemas.microsoft.com/office/drawing/2014/main" id="{56B0FA65-A6AD-4627-8426-50128BCDB319}"/>
              </a:ext>
            </a:extLst>
          </p:cNvPr>
          <p:cNvSpPr>
            <a:spLocks noGrp="1"/>
          </p:cNvSpPr>
          <p:nvPr/>
        </p:nvSpPr>
        <p:spPr>
          <a:xfrm>
            <a:off x="1476375" y="3514725"/>
            <a:ext cx="8477250" cy="419100"/>
          </a:xfrm>
          <a:prstGeom prst="rect">
            <a:avLst/>
          </a:prstGeom>
          <a:noFill/>
          <a:ln w="0">
            <a:noFill/>
            <a:prstDash val="solid"/>
          </a:ln>
        </p:spPr>
        <p:txBody>
          <a:bodyPr anchor="t">
            <a:normAutofit/>
          </a:bodyPr>
          <a:lstStyle/>
          <a:p>
            <a:pPr algn="l">
              <a:defRPr sz="2025" b="0">
                <a:solidFill>
                  <a:srgbClr val="FFFFFF"/>
                </a:solidFill>
                <a:latin typeface="Arial"/>
                <a:ea typeface="Arial"/>
                <a:cs typeface="Arial"/>
              </a:defRPr>
            </a:pPr>
            <a:r>
              <a:rPr sz="2025" b="0" dirty="0">
                <a:solidFill>
                  <a:srgbClr val="FFFFFF"/>
                </a:solidFill>
                <a:latin typeface="Arial"/>
                <a:ea typeface="Arial"/>
                <a:cs typeface="Arial"/>
              </a:rPr>
              <a:t>Create the app, then use Codex to customize it.</a:t>
            </a:r>
          </a:p>
        </p:txBody>
      </p:sp>
      <p:sp>
        <p:nvSpPr>
          <p:cNvPr id="9" name="Rectangle 8">
            <a:extLst>
              <a:ext uri="{FF2B5EF4-FFF2-40B4-BE49-F238E27FC236}">
                <a16:creationId xmlns:a16="http://schemas.microsoft.com/office/drawing/2014/main" id="{C2992B6C-5A42-42A2-B72C-9D3E2DEF53C7}"/>
              </a:ext>
            </a:extLst>
          </p:cNvPr>
          <p:cNvSpPr>
            <a:spLocks noGrp="1"/>
          </p:cNvSpPr>
          <p:nvPr/>
        </p:nvSpPr>
        <p:spPr>
          <a:xfrm>
            <a:off x="876300" y="4362450"/>
            <a:ext cx="381000" cy="333375"/>
          </a:xfrm>
          <a:prstGeom prst="rect">
            <a:avLst/>
          </a:prstGeom>
          <a:noFill/>
          <a:ln w="0">
            <a:noFill/>
            <a:prstDash val="solid"/>
          </a:ln>
        </p:spPr>
        <p:txBody>
          <a:bodyPr anchor="t">
            <a:normAutofit fontScale="84667" lnSpcReduction="10000"/>
          </a:bodyPr>
          <a:lstStyle/>
          <a:p>
            <a:pPr algn="l">
              <a:defRPr sz="1875" b="1">
                <a:solidFill>
                  <a:srgbClr val="FBBF24"/>
                </a:solidFill>
                <a:latin typeface="Arial"/>
                <a:ea typeface="Arial"/>
                <a:cs typeface="Arial"/>
              </a:defRPr>
            </a:pPr>
            <a:r>
              <a:rPr sz="1875" b="1">
                <a:solidFill>
                  <a:srgbClr val="FBBF24"/>
                </a:solidFill>
                <a:latin typeface="Arial"/>
                <a:ea typeface="Arial"/>
                <a:cs typeface="Arial"/>
              </a:rPr>
              <a:t>4</a:t>
            </a:r>
          </a:p>
        </p:txBody>
      </p:sp>
      <p:sp>
        <p:nvSpPr>
          <p:cNvPr id="10" name="Rectangle 9">
            <a:extLst>
              <a:ext uri="{FF2B5EF4-FFF2-40B4-BE49-F238E27FC236}">
                <a16:creationId xmlns:a16="http://schemas.microsoft.com/office/drawing/2014/main" id="{121F9BDD-70C0-4258-87D7-5B90D75745D7}"/>
              </a:ext>
            </a:extLst>
          </p:cNvPr>
          <p:cNvSpPr>
            <a:spLocks noGrp="1"/>
          </p:cNvSpPr>
          <p:nvPr/>
        </p:nvSpPr>
        <p:spPr>
          <a:xfrm>
            <a:off x="1476375" y="4295775"/>
            <a:ext cx="8477250" cy="419100"/>
          </a:xfrm>
          <a:prstGeom prst="rect">
            <a:avLst/>
          </a:prstGeom>
          <a:noFill/>
          <a:ln w="0">
            <a:noFill/>
            <a:prstDash val="solid"/>
          </a:ln>
        </p:spPr>
        <p:txBody>
          <a:bodyPr anchor="t">
            <a:normAutofit/>
          </a:bodyPr>
          <a:lstStyle/>
          <a:p>
            <a:pPr algn="l">
              <a:defRPr sz="2025" b="0">
                <a:solidFill>
                  <a:srgbClr val="FFFFFF"/>
                </a:solidFill>
                <a:latin typeface="Arial"/>
                <a:ea typeface="Arial"/>
                <a:cs typeface="Arial"/>
              </a:defRPr>
            </a:pPr>
            <a:r>
              <a:rPr sz="2025" b="0">
                <a:solidFill>
                  <a:srgbClr val="FFFFFF"/>
                </a:solidFill>
                <a:latin typeface="Arial"/>
                <a:ea typeface="Arial"/>
                <a:cs typeface="Arial"/>
              </a:rPr>
              <a:t>Review, publish, and test the app’s key task.</a:t>
            </a:r>
          </a:p>
        </p:txBody>
      </p:sp>
      <p:sp>
        <p:nvSpPr>
          <p:cNvPr id="11" name="Rectangle 10">
            <a:extLst>
              <a:ext uri="{FF2B5EF4-FFF2-40B4-BE49-F238E27FC236}">
                <a16:creationId xmlns:a16="http://schemas.microsoft.com/office/drawing/2014/main" id="{41BC9CD2-5338-4E3A-827C-6712D09025B2}"/>
              </a:ext>
            </a:extLst>
          </p:cNvPr>
          <p:cNvSpPr>
            <a:spLocks noGrp="1"/>
          </p:cNvSpPr>
          <p:nvPr/>
        </p:nvSpPr>
        <p:spPr>
          <a:xfrm>
            <a:off x="704850" y="5695950"/>
            <a:ext cx="2952750" cy="428625"/>
          </a:xfrm>
          <a:prstGeom prst="rect">
            <a:avLst/>
          </a:prstGeom>
          <a:noFill/>
          <a:ln w="0">
            <a:noFill/>
            <a:prstDash val="solid"/>
          </a:ln>
        </p:spPr>
        <p:txBody>
          <a:bodyPr anchor="t">
            <a:normAutofit fontScale="98333"/>
          </a:bodyPr>
          <a:lstStyle/>
          <a:p>
            <a:pPr algn="l">
              <a:defRPr sz="2250" b="1">
                <a:solidFill>
                  <a:srgbClr val="FBBF24"/>
                </a:solidFill>
                <a:latin typeface="Arial"/>
                <a:ea typeface="Arial"/>
                <a:cs typeface="Arial"/>
              </a:defRPr>
            </a:pPr>
            <a:r>
              <a:rPr sz="2250" b="1">
                <a:solidFill>
                  <a:srgbClr val="FBBF24"/>
                </a:solidFill>
                <a:latin typeface="Arial"/>
                <a:ea typeface="Arial"/>
                <a:cs typeface="Arial"/>
              </a:rPr>
              <a:t>Questions?</a:t>
            </a:r>
          </a:p>
        </p:txBody>
      </p:sp>
    </p:spTree>
    <p:extLst>
      <p:ext uri="{BB962C8B-B14F-4D97-AF65-F5344CB8AC3E}">
        <p14:creationId xmlns:p14="http://schemas.microsoft.com/office/powerpoint/2010/main" val="25660606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1524</Words>
  <Application>Microsoft Macintosh PowerPoint</Application>
  <DocSecurity>0</DocSecurity>
  <PresentationFormat>Widescreen</PresentationFormat>
  <Paragraphs>186</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Marc Hollins</cp:lastModifiedBy>
  <cp:revision>1</cp:revision>
  <dcterms:created xsi:type="dcterms:W3CDTF">2026-08-06T19:18:10Z</dcterms:created>
  <dcterms:modified xsi:type="dcterms:W3CDTF">2026-08-11T18:09:45Z</dcterms:modified>
</cp:coreProperties>
</file>